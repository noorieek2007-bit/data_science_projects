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090562-DF84-4FD7-AC36-20C3DAF36FD6}">
  <a:tblStyle styleId="{08090562-DF84-4FD7-AC36-20C3DAF36FD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 name="Google Shape;3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0" name="Google Shape;7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3" name="Google Shape;8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2" name="Google Shape;11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2" name="Google Shape;12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4" name="Google Shape;14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4" name="Google Shape;15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1" name="Google Shape;18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0" name="Google Shape;21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11" name="Shape 11"/>
        <p:cNvGrpSpPr/>
        <p:nvPr/>
      </p:nvGrpSpPr>
      <p:grpSpPr>
        <a:xfrm>
          <a:off x="0" y="0"/>
          <a:ext cx="0" cy="0"/>
          <a:chOff x="0" y="0"/>
          <a:chExt cx="0" cy="0"/>
        </a:xfrm>
      </p:grpSpPr>
      <p:sp>
        <p:nvSpPr>
          <p:cNvPr id="12" name="Google Shape;12;p3"/>
          <p:cNvSpPr/>
          <p:nvPr/>
        </p:nvSpPr>
        <p:spPr>
          <a:xfrm>
            <a:off x="0" y="0"/>
            <a:ext cx="256032" cy="5143500"/>
          </a:xfrm>
          <a:prstGeom prst="rect">
            <a:avLst/>
          </a:prstGeom>
          <a:solidFill>
            <a:srgbClr val="2563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6858000" y="-731520"/>
            <a:ext cx="3657600" cy="3657600"/>
          </a:xfrm>
          <a:prstGeom prst="ellipse">
            <a:avLst/>
          </a:prstGeom>
          <a:solidFill>
            <a:srgbClr val="FFFFFF">
              <a:alpha val="5882"/>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3"/>
          <p:cNvSpPr/>
          <p:nvPr/>
        </p:nvSpPr>
        <p:spPr>
          <a:xfrm>
            <a:off x="7498080" y="2286000"/>
            <a:ext cx="2286000" cy="2286000"/>
          </a:xfrm>
          <a:prstGeom prst="ellipse">
            <a:avLst/>
          </a:prstGeom>
          <a:solidFill>
            <a:srgbClr val="FFFFFF">
              <a:alpha val="392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3"/>
          <p:cNvSpPr/>
          <p:nvPr/>
        </p:nvSpPr>
        <p:spPr>
          <a:xfrm>
            <a:off x="502920" y="822960"/>
            <a:ext cx="7772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FD"/>
              </a:buClr>
              <a:buSzPts val="1300"/>
              <a:buFont typeface="Calibri"/>
              <a:buNone/>
            </a:pPr>
            <a:r>
              <a:rPr b="1" lang="en-US" sz="1300">
                <a:solidFill>
                  <a:srgbClr val="93C5FD"/>
                </a:solidFill>
                <a:latin typeface="Calibri"/>
                <a:ea typeface="Calibri"/>
                <a:cs typeface="Calibri"/>
                <a:sym typeface="Calibri"/>
              </a:rPr>
              <a:t>POWER BI PROJECT</a:t>
            </a:r>
            <a:endParaRPr sz="1300">
              <a:solidFill>
                <a:schemeClr val="dk1"/>
              </a:solidFill>
              <a:latin typeface="Calibri"/>
              <a:ea typeface="Calibri"/>
              <a:cs typeface="Calibri"/>
              <a:sym typeface="Calibri"/>
            </a:endParaRPr>
          </a:p>
        </p:txBody>
      </p:sp>
      <p:sp>
        <p:nvSpPr>
          <p:cNvPr id="16" name="Google Shape;16;p3"/>
          <p:cNvSpPr/>
          <p:nvPr/>
        </p:nvSpPr>
        <p:spPr>
          <a:xfrm>
            <a:off x="256032" y="1325880"/>
            <a:ext cx="7772400" cy="1188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2800">
                <a:solidFill>
                  <a:schemeClr val="lt1"/>
                </a:solidFill>
              </a:rPr>
              <a:t>           </a:t>
            </a:r>
            <a:r>
              <a:rPr b="1" lang="en-US" sz="3100">
                <a:solidFill>
                  <a:schemeClr val="lt1"/>
                </a:solidFill>
              </a:rPr>
              <a:t> </a:t>
            </a:r>
            <a:r>
              <a:rPr b="1" lang="en-US" sz="2950">
                <a:solidFill>
                  <a:schemeClr val="lt1"/>
                </a:solidFill>
              </a:rPr>
              <a:t>Bank Loan Default Risk Dashboard</a:t>
            </a:r>
            <a:endParaRPr b="1" sz="2950">
              <a:solidFill>
                <a:schemeClr val="lt1"/>
              </a:solidFill>
            </a:endParaRPr>
          </a:p>
          <a:p>
            <a:pPr indent="0" lvl="0" marL="0" marR="0" rtl="0" algn="l">
              <a:spcBef>
                <a:spcPts val="0"/>
              </a:spcBef>
              <a:spcAft>
                <a:spcPts val="0"/>
              </a:spcAft>
              <a:buClr>
                <a:srgbClr val="FFFFFF"/>
              </a:buClr>
              <a:buSzPts val="3400"/>
              <a:buFont typeface="Cambria"/>
              <a:buNone/>
            </a:pPr>
            <a:r>
              <a:t/>
            </a:r>
            <a:endParaRPr b="1" sz="3400">
              <a:solidFill>
                <a:srgbClr val="FFFFFF"/>
              </a:solidFill>
              <a:latin typeface="Cambria"/>
              <a:ea typeface="Cambria"/>
              <a:cs typeface="Cambria"/>
              <a:sym typeface="Cambria"/>
            </a:endParaRPr>
          </a:p>
        </p:txBody>
      </p:sp>
      <p:sp>
        <p:nvSpPr>
          <p:cNvPr id="17" name="Google Shape;17;p3"/>
          <p:cNvSpPr/>
          <p:nvPr/>
        </p:nvSpPr>
        <p:spPr>
          <a:xfrm>
            <a:off x="502920" y="256032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FDBFE"/>
              </a:buClr>
              <a:buSzPts val="1400"/>
              <a:buFont typeface="Calibri"/>
              <a:buNone/>
            </a:pPr>
            <a:r>
              <a:rPr lang="en-US" sz="1400">
                <a:solidFill>
                  <a:srgbClr val="BFDBFE"/>
                </a:solidFill>
                <a:latin typeface="Calibri"/>
                <a:ea typeface="Calibri"/>
                <a:cs typeface="Calibri"/>
                <a:sym typeface="Calibri"/>
              </a:rPr>
              <a:t>Summer Training — Power BI | [</a:t>
            </a:r>
            <a:r>
              <a:rPr lang="en-US">
                <a:solidFill>
                  <a:srgbClr val="BFDBFE"/>
                </a:solidFill>
                <a:latin typeface="Calibri"/>
                <a:ea typeface="Calibri"/>
                <a:cs typeface="Calibri"/>
                <a:sym typeface="Calibri"/>
              </a:rPr>
              <a:t>Chandigarh College of Engineering</a:t>
            </a:r>
            <a:r>
              <a:rPr lang="en-US" sz="1400">
                <a:solidFill>
                  <a:srgbClr val="BFDBFE"/>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18" name="Google Shape;18;p3"/>
          <p:cNvSpPr/>
          <p:nvPr/>
        </p:nvSpPr>
        <p:spPr>
          <a:xfrm>
            <a:off x="256032" y="3931920"/>
            <a:ext cx="8887968" cy="1207008"/>
          </a:xfrm>
          <a:prstGeom prst="rect">
            <a:avLst/>
          </a:prstGeom>
          <a:solidFill>
            <a:srgbClr val="FFFFFF">
              <a:alpha val="784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3"/>
          <p:cNvSpPr/>
          <p:nvPr/>
        </p:nvSpPr>
        <p:spPr>
          <a:xfrm>
            <a:off x="457200" y="4005072"/>
            <a:ext cx="20116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FD"/>
              </a:buClr>
              <a:buSzPts val="900"/>
              <a:buFont typeface="Calibri"/>
              <a:buNone/>
            </a:pPr>
            <a:r>
              <a:rPr lang="en-US" sz="900">
                <a:solidFill>
                  <a:srgbClr val="93C5FD"/>
                </a:solidFill>
                <a:latin typeface="Calibri"/>
                <a:ea typeface="Calibri"/>
                <a:cs typeface="Calibri"/>
                <a:sym typeface="Calibri"/>
              </a:rPr>
              <a:t>Presented by</a:t>
            </a:r>
            <a:endParaRPr sz="900">
              <a:solidFill>
                <a:schemeClr val="dk1"/>
              </a:solidFill>
              <a:latin typeface="Calibri"/>
              <a:ea typeface="Calibri"/>
              <a:cs typeface="Calibri"/>
              <a:sym typeface="Calibri"/>
            </a:endParaRPr>
          </a:p>
        </p:txBody>
      </p:sp>
      <p:sp>
        <p:nvSpPr>
          <p:cNvPr id="20" name="Google Shape;20;p3"/>
          <p:cNvSpPr/>
          <p:nvPr/>
        </p:nvSpPr>
        <p:spPr>
          <a:xfrm>
            <a:off x="317775" y="4279400"/>
            <a:ext cx="21510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lang="en-US" sz="1250">
                <a:solidFill>
                  <a:srgbClr val="FFFFFF"/>
                </a:solidFill>
                <a:latin typeface="Calibri"/>
                <a:ea typeface="Calibri"/>
                <a:cs typeface="Calibri"/>
                <a:sym typeface="Calibri"/>
              </a:rPr>
              <a:t>Harnoor Kaur</a:t>
            </a:r>
            <a:r>
              <a:rPr b="1" lang="en-US" sz="1250">
                <a:solidFill>
                  <a:srgbClr val="FFFFFF"/>
                </a:solidFill>
                <a:latin typeface="Calibri"/>
                <a:ea typeface="Calibri"/>
                <a:cs typeface="Calibri"/>
                <a:sym typeface="Calibri"/>
              </a:rPr>
              <a:t> | 2405039380</a:t>
            </a:r>
            <a:endParaRPr sz="1250">
              <a:solidFill>
                <a:schemeClr val="dk1"/>
              </a:solidFill>
              <a:latin typeface="Calibri"/>
              <a:ea typeface="Calibri"/>
              <a:cs typeface="Calibri"/>
              <a:sym typeface="Calibri"/>
            </a:endParaRPr>
          </a:p>
        </p:txBody>
      </p:sp>
      <p:sp>
        <p:nvSpPr>
          <p:cNvPr id="21" name="Google Shape;21;p3"/>
          <p:cNvSpPr/>
          <p:nvPr/>
        </p:nvSpPr>
        <p:spPr>
          <a:xfrm>
            <a:off x="2606040" y="4005072"/>
            <a:ext cx="20116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FD"/>
              </a:buClr>
              <a:buSzPts val="900"/>
              <a:buFont typeface="Calibri"/>
              <a:buNone/>
            </a:pPr>
            <a:r>
              <a:rPr lang="en-US" sz="900">
                <a:solidFill>
                  <a:srgbClr val="93C5FD"/>
                </a:solidFill>
                <a:latin typeface="Calibri"/>
                <a:ea typeface="Calibri"/>
                <a:cs typeface="Calibri"/>
                <a:sym typeface="Calibri"/>
              </a:rPr>
              <a:t>Course</a:t>
            </a:r>
            <a:endParaRPr sz="900">
              <a:solidFill>
                <a:schemeClr val="dk1"/>
              </a:solidFill>
              <a:latin typeface="Calibri"/>
              <a:ea typeface="Calibri"/>
              <a:cs typeface="Calibri"/>
              <a:sym typeface="Calibri"/>
            </a:endParaRPr>
          </a:p>
        </p:txBody>
      </p:sp>
      <p:sp>
        <p:nvSpPr>
          <p:cNvPr id="22" name="Google Shape;22;p3"/>
          <p:cNvSpPr/>
          <p:nvPr/>
        </p:nvSpPr>
        <p:spPr>
          <a:xfrm>
            <a:off x="2606040" y="4279392"/>
            <a:ext cx="2011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lang="en-US" sz="1250">
                <a:solidFill>
                  <a:srgbClr val="FFFFFF"/>
                </a:solidFill>
                <a:latin typeface="Calibri"/>
                <a:ea typeface="Calibri"/>
                <a:cs typeface="Calibri"/>
                <a:sym typeface="Calibri"/>
              </a:rPr>
              <a:t>BTECH CSE</a:t>
            </a:r>
            <a:endParaRPr sz="1250">
              <a:solidFill>
                <a:schemeClr val="dk1"/>
              </a:solidFill>
              <a:latin typeface="Calibri"/>
              <a:ea typeface="Calibri"/>
              <a:cs typeface="Calibri"/>
              <a:sym typeface="Calibri"/>
            </a:endParaRPr>
          </a:p>
        </p:txBody>
      </p:sp>
      <p:sp>
        <p:nvSpPr>
          <p:cNvPr id="23" name="Google Shape;23;p3"/>
          <p:cNvSpPr/>
          <p:nvPr/>
        </p:nvSpPr>
        <p:spPr>
          <a:xfrm>
            <a:off x="4754880" y="4005072"/>
            <a:ext cx="20116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FD"/>
              </a:buClr>
              <a:buSzPts val="900"/>
              <a:buFont typeface="Calibri"/>
              <a:buNone/>
            </a:pPr>
            <a:r>
              <a:rPr lang="en-US" sz="900">
                <a:solidFill>
                  <a:srgbClr val="93C5FD"/>
                </a:solidFill>
                <a:latin typeface="Calibri"/>
                <a:ea typeface="Calibri"/>
                <a:cs typeface="Calibri"/>
                <a:sym typeface="Calibri"/>
              </a:rPr>
              <a:t>Guided by</a:t>
            </a:r>
            <a:endParaRPr sz="900">
              <a:solidFill>
                <a:schemeClr val="dk1"/>
              </a:solidFill>
              <a:latin typeface="Calibri"/>
              <a:ea typeface="Calibri"/>
              <a:cs typeface="Calibri"/>
              <a:sym typeface="Calibri"/>
            </a:endParaRPr>
          </a:p>
        </p:txBody>
      </p:sp>
      <p:sp>
        <p:nvSpPr>
          <p:cNvPr id="24" name="Google Shape;24;p3"/>
          <p:cNvSpPr/>
          <p:nvPr/>
        </p:nvSpPr>
        <p:spPr>
          <a:xfrm>
            <a:off x="4754880" y="4279392"/>
            <a:ext cx="2011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[Mentor Name]</a:t>
            </a:r>
            <a:endParaRPr sz="1050">
              <a:solidFill>
                <a:schemeClr val="dk1"/>
              </a:solidFill>
              <a:latin typeface="Calibri"/>
              <a:ea typeface="Calibri"/>
              <a:cs typeface="Calibri"/>
              <a:sym typeface="Calibri"/>
            </a:endParaRPr>
          </a:p>
        </p:txBody>
      </p:sp>
      <p:sp>
        <p:nvSpPr>
          <p:cNvPr id="25" name="Google Shape;25;p3"/>
          <p:cNvSpPr/>
          <p:nvPr/>
        </p:nvSpPr>
        <p:spPr>
          <a:xfrm>
            <a:off x="6903720" y="4005072"/>
            <a:ext cx="20116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FD"/>
              </a:buClr>
              <a:buSzPts val="900"/>
              <a:buFont typeface="Calibri"/>
              <a:buNone/>
            </a:pPr>
            <a:r>
              <a:rPr lang="en-US" sz="900">
                <a:solidFill>
                  <a:srgbClr val="93C5FD"/>
                </a:solidFill>
                <a:latin typeface="Calibri"/>
                <a:ea typeface="Calibri"/>
                <a:cs typeface="Calibri"/>
                <a:sym typeface="Calibri"/>
              </a:rPr>
              <a:t>Date</a:t>
            </a:r>
            <a:endParaRPr sz="900">
              <a:solidFill>
                <a:schemeClr val="dk1"/>
              </a:solidFill>
              <a:latin typeface="Calibri"/>
              <a:ea typeface="Calibri"/>
              <a:cs typeface="Calibri"/>
              <a:sym typeface="Calibri"/>
            </a:endParaRPr>
          </a:p>
        </p:txBody>
      </p:sp>
      <p:sp>
        <p:nvSpPr>
          <p:cNvPr id="26" name="Google Shape;26;p3"/>
          <p:cNvSpPr/>
          <p:nvPr/>
        </p:nvSpPr>
        <p:spPr>
          <a:xfrm>
            <a:off x="6903720" y="4279392"/>
            <a:ext cx="2011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lang="en-US" sz="1250">
                <a:solidFill>
                  <a:srgbClr val="FFFFFF"/>
                </a:solidFill>
                <a:latin typeface="Calibri"/>
                <a:ea typeface="Calibri"/>
                <a:cs typeface="Calibri"/>
                <a:sym typeface="Calibri"/>
              </a:rPr>
              <a:t>01/07/26</a:t>
            </a:r>
            <a:endParaRPr sz="1250">
              <a:solidFill>
                <a:schemeClr val="dk1"/>
              </a:solidFill>
              <a:latin typeface="Calibri"/>
              <a:ea typeface="Calibri"/>
              <a:cs typeface="Calibri"/>
              <a:sym typeface="Calibri"/>
            </a:endParaRPr>
          </a:p>
        </p:txBody>
      </p:sp>
      <p:pic>
        <p:nvPicPr>
          <p:cNvPr id="27" name="Google Shape;27;p3"/>
          <p:cNvPicPr preferRelativeResize="0"/>
          <p:nvPr/>
        </p:nvPicPr>
        <p:blipFill rotWithShape="1">
          <a:blip r:embed="rId3">
            <a:alphaModFix/>
          </a:blip>
          <a:srcRect b="0" l="0" r="0" t="0"/>
          <a:stretch/>
        </p:blipFill>
        <p:spPr>
          <a:xfrm>
            <a:off x="0" y="8721"/>
            <a:ext cx="2151088" cy="45138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32" name="Shape 32"/>
        <p:cNvGrpSpPr/>
        <p:nvPr/>
      </p:nvGrpSpPr>
      <p:grpSpPr>
        <a:xfrm>
          <a:off x="0" y="0"/>
          <a:ext cx="0" cy="0"/>
          <a:chOff x="0" y="0"/>
          <a:chExt cx="0" cy="0"/>
        </a:xfrm>
      </p:grpSpPr>
      <p:sp>
        <p:nvSpPr>
          <p:cNvPr id="33" name="Google Shape;33;p4"/>
          <p:cNvSpPr/>
          <p:nvPr/>
        </p:nvSpPr>
        <p:spPr>
          <a:xfrm>
            <a:off x="0" y="0"/>
            <a:ext cx="9144000" cy="502920"/>
          </a:xfrm>
          <a:prstGeom prst="rect">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4"/>
          <p:cNvSpPr/>
          <p:nvPr/>
        </p:nvSpPr>
        <p:spPr>
          <a:xfrm>
            <a:off x="457200" y="59436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6B"/>
              </a:buClr>
              <a:buSzPts val="2800"/>
              <a:buFont typeface="Cambria"/>
              <a:buNone/>
            </a:pPr>
            <a:r>
              <a:rPr b="1" lang="en-US" sz="2800">
                <a:solidFill>
                  <a:srgbClr val="FFFFFF"/>
                </a:solidFill>
                <a:latin typeface="Cambria"/>
                <a:ea typeface="Cambria"/>
                <a:cs typeface="Cambria"/>
                <a:sym typeface="Cambria"/>
              </a:rPr>
              <a:t>Agenda</a:t>
            </a:r>
            <a:endParaRPr sz="2800">
              <a:solidFill>
                <a:srgbClr val="FFFFFF"/>
              </a:solidFill>
              <a:latin typeface="Calibri"/>
              <a:ea typeface="Calibri"/>
              <a:cs typeface="Calibri"/>
              <a:sym typeface="Calibri"/>
            </a:endParaRPr>
          </a:p>
        </p:txBody>
      </p:sp>
      <p:sp>
        <p:nvSpPr>
          <p:cNvPr id="35" name="Google Shape;35;p4"/>
          <p:cNvSpPr/>
          <p:nvPr/>
        </p:nvSpPr>
        <p:spPr>
          <a:xfrm>
            <a:off x="411480" y="1234440"/>
            <a:ext cx="384048" cy="384048"/>
          </a:xfrm>
          <a:prstGeom prst="ellipse">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4"/>
          <p:cNvSpPr/>
          <p:nvPr/>
        </p:nvSpPr>
        <p:spPr>
          <a:xfrm>
            <a:off x="411480" y="1243584"/>
            <a:ext cx="3840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01</a:t>
            </a:r>
            <a:endParaRPr sz="1100">
              <a:solidFill>
                <a:schemeClr val="dk1"/>
              </a:solidFill>
              <a:latin typeface="Calibri"/>
              <a:ea typeface="Calibri"/>
              <a:cs typeface="Calibri"/>
              <a:sym typeface="Calibri"/>
            </a:endParaRPr>
          </a:p>
        </p:txBody>
      </p:sp>
      <p:sp>
        <p:nvSpPr>
          <p:cNvPr id="37" name="Google Shape;37;p4"/>
          <p:cNvSpPr/>
          <p:nvPr/>
        </p:nvSpPr>
        <p:spPr>
          <a:xfrm>
            <a:off x="914400" y="1234440"/>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lang="en-US" sz="1300">
                <a:solidFill>
                  <a:srgbClr val="FFF2CC"/>
                </a:solidFill>
                <a:latin typeface="Calibri"/>
                <a:ea typeface="Calibri"/>
                <a:cs typeface="Calibri"/>
                <a:sym typeface="Calibri"/>
              </a:rPr>
              <a:t>Problem Statement &amp; Objective</a:t>
            </a:r>
            <a:endParaRPr sz="1300">
              <a:solidFill>
                <a:srgbClr val="FFF2CC"/>
              </a:solidFill>
              <a:latin typeface="Calibri"/>
              <a:ea typeface="Calibri"/>
              <a:cs typeface="Calibri"/>
              <a:sym typeface="Calibri"/>
            </a:endParaRPr>
          </a:p>
        </p:txBody>
      </p:sp>
      <p:sp>
        <p:nvSpPr>
          <p:cNvPr id="38" name="Google Shape;38;p4"/>
          <p:cNvSpPr/>
          <p:nvPr/>
        </p:nvSpPr>
        <p:spPr>
          <a:xfrm>
            <a:off x="411480" y="1947672"/>
            <a:ext cx="384048" cy="384048"/>
          </a:xfrm>
          <a:prstGeom prst="ellipse">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4"/>
          <p:cNvSpPr/>
          <p:nvPr/>
        </p:nvSpPr>
        <p:spPr>
          <a:xfrm>
            <a:off x="411480" y="1956816"/>
            <a:ext cx="3840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02</a:t>
            </a:r>
            <a:endParaRPr sz="1100">
              <a:solidFill>
                <a:schemeClr val="dk1"/>
              </a:solidFill>
              <a:latin typeface="Calibri"/>
              <a:ea typeface="Calibri"/>
              <a:cs typeface="Calibri"/>
              <a:sym typeface="Calibri"/>
            </a:endParaRPr>
          </a:p>
        </p:txBody>
      </p:sp>
      <p:sp>
        <p:nvSpPr>
          <p:cNvPr id="40" name="Google Shape;40;p4"/>
          <p:cNvSpPr/>
          <p:nvPr/>
        </p:nvSpPr>
        <p:spPr>
          <a:xfrm>
            <a:off x="914400" y="1947672"/>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lang="en-US" sz="1300">
                <a:solidFill>
                  <a:srgbClr val="FFF2CC"/>
                </a:solidFill>
                <a:latin typeface="Calibri"/>
                <a:ea typeface="Calibri"/>
                <a:cs typeface="Calibri"/>
                <a:sym typeface="Calibri"/>
              </a:rPr>
              <a:t>Dataset Overview</a:t>
            </a:r>
            <a:endParaRPr sz="1300">
              <a:solidFill>
                <a:srgbClr val="FFF2CC"/>
              </a:solidFill>
              <a:latin typeface="Calibri"/>
              <a:ea typeface="Calibri"/>
              <a:cs typeface="Calibri"/>
              <a:sym typeface="Calibri"/>
            </a:endParaRPr>
          </a:p>
        </p:txBody>
      </p:sp>
      <p:sp>
        <p:nvSpPr>
          <p:cNvPr id="41" name="Google Shape;41;p4"/>
          <p:cNvSpPr/>
          <p:nvPr/>
        </p:nvSpPr>
        <p:spPr>
          <a:xfrm>
            <a:off x="411480" y="2660904"/>
            <a:ext cx="384048" cy="384048"/>
          </a:xfrm>
          <a:prstGeom prst="ellipse">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4"/>
          <p:cNvSpPr/>
          <p:nvPr/>
        </p:nvSpPr>
        <p:spPr>
          <a:xfrm>
            <a:off x="411480" y="2670048"/>
            <a:ext cx="3840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03</a:t>
            </a:r>
            <a:endParaRPr sz="1100">
              <a:solidFill>
                <a:schemeClr val="dk1"/>
              </a:solidFill>
              <a:latin typeface="Calibri"/>
              <a:ea typeface="Calibri"/>
              <a:cs typeface="Calibri"/>
              <a:sym typeface="Calibri"/>
            </a:endParaRPr>
          </a:p>
        </p:txBody>
      </p:sp>
      <p:sp>
        <p:nvSpPr>
          <p:cNvPr id="43" name="Google Shape;43;p4"/>
          <p:cNvSpPr/>
          <p:nvPr/>
        </p:nvSpPr>
        <p:spPr>
          <a:xfrm>
            <a:off x="914400" y="2660904"/>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lang="en-US" sz="1300">
                <a:solidFill>
                  <a:srgbClr val="FFF2CC"/>
                </a:solidFill>
                <a:latin typeface="Calibri"/>
                <a:ea typeface="Calibri"/>
                <a:cs typeface="Calibri"/>
                <a:sym typeface="Calibri"/>
              </a:rPr>
              <a:t>Data Model — Star Schema</a:t>
            </a:r>
            <a:endParaRPr sz="1300">
              <a:solidFill>
                <a:srgbClr val="FFF2CC"/>
              </a:solidFill>
              <a:latin typeface="Calibri"/>
              <a:ea typeface="Calibri"/>
              <a:cs typeface="Calibri"/>
              <a:sym typeface="Calibri"/>
            </a:endParaRPr>
          </a:p>
        </p:txBody>
      </p:sp>
      <p:sp>
        <p:nvSpPr>
          <p:cNvPr id="44" name="Google Shape;44;p4"/>
          <p:cNvSpPr/>
          <p:nvPr/>
        </p:nvSpPr>
        <p:spPr>
          <a:xfrm>
            <a:off x="411480" y="3374136"/>
            <a:ext cx="384048" cy="384048"/>
          </a:xfrm>
          <a:prstGeom prst="ellipse">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4"/>
          <p:cNvSpPr/>
          <p:nvPr/>
        </p:nvSpPr>
        <p:spPr>
          <a:xfrm>
            <a:off x="411480" y="3383280"/>
            <a:ext cx="3840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04</a:t>
            </a:r>
            <a:endParaRPr sz="1100">
              <a:solidFill>
                <a:schemeClr val="dk1"/>
              </a:solidFill>
              <a:latin typeface="Calibri"/>
              <a:ea typeface="Calibri"/>
              <a:cs typeface="Calibri"/>
              <a:sym typeface="Calibri"/>
            </a:endParaRPr>
          </a:p>
        </p:txBody>
      </p:sp>
      <p:sp>
        <p:nvSpPr>
          <p:cNvPr id="46" name="Google Shape;46;p4"/>
          <p:cNvSpPr/>
          <p:nvPr/>
        </p:nvSpPr>
        <p:spPr>
          <a:xfrm>
            <a:off x="914400" y="3374136"/>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lang="en-US" sz="1300">
                <a:solidFill>
                  <a:srgbClr val="FFF2CC"/>
                </a:solidFill>
                <a:latin typeface="Calibri"/>
                <a:ea typeface="Calibri"/>
                <a:cs typeface="Calibri"/>
                <a:sym typeface="Calibri"/>
              </a:rPr>
              <a:t>Power Query — Cleaning Steps</a:t>
            </a:r>
            <a:endParaRPr sz="1300">
              <a:solidFill>
                <a:srgbClr val="FFF2CC"/>
              </a:solidFill>
              <a:latin typeface="Calibri"/>
              <a:ea typeface="Calibri"/>
              <a:cs typeface="Calibri"/>
              <a:sym typeface="Calibri"/>
            </a:endParaRPr>
          </a:p>
        </p:txBody>
      </p:sp>
      <p:sp>
        <p:nvSpPr>
          <p:cNvPr id="47" name="Google Shape;47;p4"/>
          <p:cNvSpPr/>
          <p:nvPr/>
        </p:nvSpPr>
        <p:spPr>
          <a:xfrm>
            <a:off x="411480" y="4087368"/>
            <a:ext cx="384048" cy="384048"/>
          </a:xfrm>
          <a:prstGeom prst="ellipse">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4"/>
          <p:cNvSpPr/>
          <p:nvPr/>
        </p:nvSpPr>
        <p:spPr>
          <a:xfrm>
            <a:off x="411480" y="4096512"/>
            <a:ext cx="3840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05</a:t>
            </a:r>
            <a:endParaRPr sz="1100">
              <a:solidFill>
                <a:schemeClr val="dk1"/>
              </a:solidFill>
              <a:latin typeface="Calibri"/>
              <a:ea typeface="Calibri"/>
              <a:cs typeface="Calibri"/>
              <a:sym typeface="Calibri"/>
            </a:endParaRPr>
          </a:p>
        </p:txBody>
      </p:sp>
      <p:sp>
        <p:nvSpPr>
          <p:cNvPr id="49" name="Google Shape;49;p4"/>
          <p:cNvSpPr/>
          <p:nvPr/>
        </p:nvSpPr>
        <p:spPr>
          <a:xfrm>
            <a:off x="914400" y="4087343"/>
            <a:ext cx="40233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lang="en-US" sz="1300">
                <a:solidFill>
                  <a:srgbClr val="FFF2CC"/>
                </a:solidFill>
                <a:latin typeface="Calibri"/>
                <a:ea typeface="Calibri"/>
                <a:cs typeface="Calibri"/>
                <a:sym typeface="Calibri"/>
              </a:rPr>
              <a:t>DAX Measure</a:t>
            </a:r>
            <a:r>
              <a:rPr lang="en-US" sz="1300">
                <a:solidFill>
                  <a:srgbClr val="1E293B"/>
                </a:solidFill>
                <a:latin typeface="Calibri"/>
                <a:ea typeface="Calibri"/>
                <a:cs typeface="Calibri"/>
                <a:sym typeface="Calibri"/>
              </a:rPr>
              <a:t>s</a:t>
            </a:r>
            <a:endParaRPr sz="1300">
              <a:solidFill>
                <a:schemeClr val="dk1"/>
              </a:solidFill>
              <a:latin typeface="Calibri"/>
              <a:ea typeface="Calibri"/>
              <a:cs typeface="Calibri"/>
              <a:sym typeface="Calibri"/>
            </a:endParaRPr>
          </a:p>
        </p:txBody>
      </p:sp>
      <p:sp>
        <p:nvSpPr>
          <p:cNvPr id="50" name="Google Shape;50;p4"/>
          <p:cNvSpPr/>
          <p:nvPr/>
        </p:nvSpPr>
        <p:spPr>
          <a:xfrm>
            <a:off x="4754880" y="1234440"/>
            <a:ext cx="384048" cy="384048"/>
          </a:xfrm>
          <a:prstGeom prst="ellipse">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4"/>
          <p:cNvSpPr/>
          <p:nvPr/>
        </p:nvSpPr>
        <p:spPr>
          <a:xfrm>
            <a:off x="4754880" y="1243584"/>
            <a:ext cx="3840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06</a:t>
            </a:r>
            <a:endParaRPr sz="1100">
              <a:solidFill>
                <a:schemeClr val="dk1"/>
              </a:solidFill>
              <a:latin typeface="Calibri"/>
              <a:ea typeface="Calibri"/>
              <a:cs typeface="Calibri"/>
              <a:sym typeface="Calibri"/>
            </a:endParaRPr>
          </a:p>
        </p:txBody>
      </p:sp>
      <p:sp>
        <p:nvSpPr>
          <p:cNvPr id="52" name="Google Shape;52;p4"/>
          <p:cNvSpPr/>
          <p:nvPr/>
        </p:nvSpPr>
        <p:spPr>
          <a:xfrm>
            <a:off x="5257800" y="1234440"/>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lang="en-US" sz="1300">
                <a:solidFill>
                  <a:srgbClr val="FFF2CC"/>
                </a:solidFill>
                <a:latin typeface="Calibri"/>
                <a:ea typeface="Calibri"/>
                <a:cs typeface="Calibri"/>
                <a:sym typeface="Calibri"/>
              </a:rPr>
              <a:t>Dashboard Walkthrough</a:t>
            </a:r>
            <a:endParaRPr sz="1300">
              <a:solidFill>
                <a:srgbClr val="FFF2CC"/>
              </a:solidFill>
              <a:latin typeface="Calibri"/>
              <a:ea typeface="Calibri"/>
              <a:cs typeface="Calibri"/>
              <a:sym typeface="Calibri"/>
            </a:endParaRPr>
          </a:p>
        </p:txBody>
      </p:sp>
      <p:sp>
        <p:nvSpPr>
          <p:cNvPr id="53" name="Google Shape;53;p4"/>
          <p:cNvSpPr/>
          <p:nvPr/>
        </p:nvSpPr>
        <p:spPr>
          <a:xfrm>
            <a:off x="4754880" y="1947672"/>
            <a:ext cx="384048" cy="384048"/>
          </a:xfrm>
          <a:prstGeom prst="ellipse">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4"/>
          <p:cNvSpPr/>
          <p:nvPr/>
        </p:nvSpPr>
        <p:spPr>
          <a:xfrm>
            <a:off x="4754880" y="1956816"/>
            <a:ext cx="3840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07</a:t>
            </a:r>
            <a:endParaRPr sz="1100">
              <a:solidFill>
                <a:schemeClr val="dk1"/>
              </a:solidFill>
              <a:latin typeface="Calibri"/>
              <a:ea typeface="Calibri"/>
              <a:cs typeface="Calibri"/>
              <a:sym typeface="Calibri"/>
            </a:endParaRPr>
          </a:p>
        </p:txBody>
      </p:sp>
      <p:sp>
        <p:nvSpPr>
          <p:cNvPr id="55" name="Google Shape;55;p4"/>
          <p:cNvSpPr/>
          <p:nvPr/>
        </p:nvSpPr>
        <p:spPr>
          <a:xfrm>
            <a:off x="5257800" y="1947672"/>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lang="en-US" sz="1300">
                <a:solidFill>
                  <a:srgbClr val="FFF2CC"/>
                </a:solidFill>
                <a:latin typeface="Calibri"/>
                <a:ea typeface="Calibri"/>
                <a:cs typeface="Calibri"/>
                <a:sym typeface="Calibri"/>
              </a:rPr>
              <a:t>Key Insights &amp; Findings</a:t>
            </a:r>
            <a:endParaRPr sz="1300">
              <a:solidFill>
                <a:srgbClr val="FFF2CC"/>
              </a:solidFill>
              <a:latin typeface="Calibri"/>
              <a:ea typeface="Calibri"/>
              <a:cs typeface="Calibri"/>
              <a:sym typeface="Calibri"/>
            </a:endParaRPr>
          </a:p>
        </p:txBody>
      </p:sp>
      <p:sp>
        <p:nvSpPr>
          <p:cNvPr id="56" name="Google Shape;56;p4"/>
          <p:cNvSpPr/>
          <p:nvPr/>
        </p:nvSpPr>
        <p:spPr>
          <a:xfrm>
            <a:off x="4754880" y="2660904"/>
            <a:ext cx="384048" cy="384048"/>
          </a:xfrm>
          <a:prstGeom prst="ellipse">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4"/>
          <p:cNvSpPr/>
          <p:nvPr/>
        </p:nvSpPr>
        <p:spPr>
          <a:xfrm>
            <a:off x="4754880" y="2670048"/>
            <a:ext cx="3840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08</a:t>
            </a:r>
            <a:endParaRPr sz="1100">
              <a:solidFill>
                <a:schemeClr val="dk1"/>
              </a:solidFill>
              <a:latin typeface="Calibri"/>
              <a:ea typeface="Calibri"/>
              <a:cs typeface="Calibri"/>
              <a:sym typeface="Calibri"/>
            </a:endParaRPr>
          </a:p>
        </p:txBody>
      </p:sp>
      <p:sp>
        <p:nvSpPr>
          <p:cNvPr id="58" name="Google Shape;58;p4"/>
          <p:cNvSpPr/>
          <p:nvPr/>
        </p:nvSpPr>
        <p:spPr>
          <a:xfrm>
            <a:off x="5257800" y="2660904"/>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lang="en-US" sz="1300">
                <a:solidFill>
                  <a:srgbClr val="FFF2CC"/>
                </a:solidFill>
                <a:latin typeface="Calibri"/>
                <a:ea typeface="Calibri"/>
                <a:cs typeface="Calibri"/>
                <a:sym typeface="Calibri"/>
              </a:rPr>
              <a:t>Publishing to Power BI Service</a:t>
            </a:r>
            <a:endParaRPr sz="1300">
              <a:solidFill>
                <a:srgbClr val="FFF2CC"/>
              </a:solidFill>
              <a:latin typeface="Calibri"/>
              <a:ea typeface="Calibri"/>
              <a:cs typeface="Calibri"/>
              <a:sym typeface="Calibri"/>
            </a:endParaRPr>
          </a:p>
        </p:txBody>
      </p:sp>
      <p:sp>
        <p:nvSpPr>
          <p:cNvPr id="59" name="Google Shape;59;p4"/>
          <p:cNvSpPr/>
          <p:nvPr/>
        </p:nvSpPr>
        <p:spPr>
          <a:xfrm>
            <a:off x="4754880" y="3374136"/>
            <a:ext cx="384048" cy="384048"/>
          </a:xfrm>
          <a:prstGeom prst="ellipse">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4"/>
          <p:cNvSpPr/>
          <p:nvPr/>
        </p:nvSpPr>
        <p:spPr>
          <a:xfrm>
            <a:off x="4754880" y="3383280"/>
            <a:ext cx="3840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09</a:t>
            </a:r>
            <a:endParaRPr sz="1100">
              <a:solidFill>
                <a:schemeClr val="dk1"/>
              </a:solidFill>
              <a:latin typeface="Calibri"/>
              <a:ea typeface="Calibri"/>
              <a:cs typeface="Calibri"/>
              <a:sym typeface="Calibri"/>
            </a:endParaRPr>
          </a:p>
        </p:txBody>
      </p:sp>
      <p:sp>
        <p:nvSpPr>
          <p:cNvPr id="61" name="Google Shape;61;p4"/>
          <p:cNvSpPr/>
          <p:nvPr/>
        </p:nvSpPr>
        <p:spPr>
          <a:xfrm>
            <a:off x="5257800" y="3374149"/>
            <a:ext cx="40233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lang="en-US" sz="1300">
                <a:solidFill>
                  <a:srgbClr val="FFF2CC"/>
                </a:solidFill>
                <a:latin typeface="Calibri"/>
                <a:ea typeface="Calibri"/>
                <a:cs typeface="Calibri"/>
                <a:sym typeface="Calibri"/>
              </a:rPr>
              <a:t>Challenges &amp; Learnings</a:t>
            </a:r>
            <a:endParaRPr sz="1300">
              <a:solidFill>
                <a:srgbClr val="FFF2CC"/>
              </a:solidFill>
              <a:latin typeface="Calibri"/>
              <a:ea typeface="Calibri"/>
              <a:cs typeface="Calibri"/>
              <a:sym typeface="Calibri"/>
            </a:endParaRPr>
          </a:p>
        </p:txBody>
      </p:sp>
      <p:sp>
        <p:nvSpPr>
          <p:cNvPr id="62" name="Google Shape;62;p4"/>
          <p:cNvSpPr/>
          <p:nvPr/>
        </p:nvSpPr>
        <p:spPr>
          <a:xfrm>
            <a:off x="4754880" y="4087368"/>
            <a:ext cx="384048" cy="384048"/>
          </a:xfrm>
          <a:prstGeom prst="ellipse">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4"/>
          <p:cNvSpPr/>
          <p:nvPr/>
        </p:nvSpPr>
        <p:spPr>
          <a:xfrm>
            <a:off x="4754880" y="4096512"/>
            <a:ext cx="3840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10</a:t>
            </a:r>
            <a:endParaRPr sz="1100">
              <a:solidFill>
                <a:schemeClr val="dk1"/>
              </a:solidFill>
              <a:latin typeface="Calibri"/>
              <a:ea typeface="Calibri"/>
              <a:cs typeface="Calibri"/>
              <a:sym typeface="Calibri"/>
            </a:endParaRPr>
          </a:p>
        </p:txBody>
      </p:sp>
      <p:sp>
        <p:nvSpPr>
          <p:cNvPr id="64" name="Google Shape;64;p4"/>
          <p:cNvSpPr/>
          <p:nvPr/>
        </p:nvSpPr>
        <p:spPr>
          <a:xfrm>
            <a:off x="5257800" y="4087368"/>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lang="en-US" sz="1300">
                <a:solidFill>
                  <a:srgbClr val="FFF2CC"/>
                </a:solidFill>
                <a:latin typeface="Calibri"/>
                <a:ea typeface="Calibri"/>
                <a:cs typeface="Calibri"/>
                <a:sym typeface="Calibri"/>
              </a:rPr>
              <a:t>Conclusion &amp; Q&amp;A</a:t>
            </a:r>
            <a:endParaRPr sz="1300">
              <a:solidFill>
                <a:srgbClr val="FFF2CC"/>
              </a:solidFill>
              <a:latin typeface="Calibri"/>
              <a:ea typeface="Calibri"/>
              <a:cs typeface="Calibri"/>
              <a:sym typeface="Calibri"/>
            </a:endParaRPr>
          </a:p>
        </p:txBody>
      </p:sp>
      <p:sp>
        <p:nvSpPr>
          <p:cNvPr id="65" name="Google Shape;65;p4"/>
          <p:cNvSpPr/>
          <p:nvPr/>
        </p:nvSpPr>
        <p:spPr>
          <a:xfrm>
            <a:off x="8046720" y="48006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2 / 14</a:t>
            </a:r>
            <a:endParaRPr sz="900">
              <a:solidFill>
                <a:schemeClr val="dk1"/>
              </a:solidFill>
              <a:latin typeface="Calibri"/>
              <a:ea typeface="Calibri"/>
              <a:cs typeface="Calibri"/>
              <a:sym typeface="Calibri"/>
            </a:endParaRPr>
          </a:p>
        </p:txBody>
      </p:sp>
      <p:pic>
        <p:nvPicPr>
          <p:cNvPr id="66" name="Google Shape;66;p4"/>
          <p:cNvPicPr preferRelativeResize="0"/>
          <p:nvPr/>
        </p:nvPicPr>
        <p:blipFill rotWithShape="1">
          <a:blip r:embed="rId3">
            <a:alphaModFix/>
          </a:blip>
          <a:srcRect b="0" l="0" r="0" t="0"/>
          <a:stretch/>
        </p:blipFill>
        <p:spPr>
          <a:xfrm>
            <a:off x="0" y="8721"/>
            <a:ext cx="2151088" cy="45138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71" name="Shape 71"/>
        <p:cNvGrpSpPr/>
        <p:nvPr/>
      </p:nvGrpSpPr>
      <p:grpSpPr>
        <a:xfrm>
          <a:off x="0" y="0"/>
          <a:ext cx="0" cy="0"/>
          <a:chOff x="0" y="0"/>
          <a:chExt cx="0" cy="0"/>
        </a:xfrm>
      </p:grpSpPr>
      <p:sp>
        <p:nvSpPr>
          <p:cNvPr id="72" name="Google Shape;72;p5"/>
          <p:cNvSpPr/>
          <p:nvPr/>
        </p:nvSpPr>
        <p:spPr>
          <a:xfrm>
            <a:off x="0" y="1920249"/>
            <a:ext cx="164700" cy="634800"/>
          </a:xfrm>
          <a:prstGeom prst="rect">
            <a:avLst/>
          </a:prstGeom>
          <a:solidFill>
            <a:srgbClr val="2563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5"/>
          <p:cNvSpPr/>
          <p:nvPr/>
        </p:nvSpPr>
        <p:spPr>
          <a:xfrm>
            <a:off x="2237625" y="134950"/>
            <a:ext cx="82296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mbria"/>
              <a:buNone/>
            </a:pPr>
            <a:r>
              <a:rPr b="1" lang="en-US" sz="3600">
                <a:solidFill>
                  <a:srgbClr val="FFFFFF"/>
                </a:solidFill>
                <a:latin typeface="Cambria"/>
                <a:ea typeface="Cambria"/>
                <a:cs typeface="Cambria"/>
                <a:sym typeface="Cambria"/>
              </a:rPr>
              <a:t>01  Problem Statement</a:t>
            </a:r>
            <a:endParaRPr sz="3600">
              <a:solidFill>
                <a:schemeClr val="dk1"/>
              </a:solidFill>
              <a:latin typeface="Calibri"/>
              <a:ea typeface="Calibri"/>
              <a:cs typeface="Calibri"/>
              <a:sym typeface="Calibri"/>
            </a:endParaRPr>
          </a:p>
        </p:txBody>
      </p:sp>
      <p:sp>
        <p:nvSpPr>
          <p:cNvPr id="74" name="Google Shape;74;p5"/>
          <p:cNvSpPr/>
          <p:nvPr/>
        </p:nvSpPr>
        <p:spPr>
          <a:xfrm>
            <a:off x="164600" y="127103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FD"/>
              </a:buClr>
              <a:buSzPts val="1600"/>
              <a:buFont typeface="Calibri"/>
              <a:buNone/>
            </a:pPr>
            <a:r>
              <a:rPr lang="en-US" sz="1800">
                <a:solidFill>
                  <a:srgbClr val="93C5FD"/>
                </a:solidFill>
                <a:latin typeface="Calibri"/>
                <a:ea typeface="Calibri"/>
                <a:cs typeface="Calibri"/>
                <a:sym typeface="Calibri"/>
              </a:rPr>
              <a:t>What problem does this dashboard solve?</a:t>
            </a:r>
            <a:endParaRPr sz="1800">
              <a:solidFill>
                <a:schemeClr val="dk1"/>
              </a:solidFill>
              <a:latin typeface="Calibri"/>
              <a:ea typeface="Calibri"/>
              <a:cs typeface="Calibri"/>
              <a:sym typeface="Calibri"/>
            </a:endParaRPr>
          </a:p>
        </p:txBody>
      </p:sp>
      <p:sp>
        <p:nvSpPr>
          <p:cNvPr id="75" name="Google Shape;75;p5"/>
          <p:cNvSpPr/>
          <p:nvPr/>
        </p:nvSpPr>
        <p:spPr>
          <a:xfrm>
            <a:off x="8046720" y="48006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3C5FD"/>
              </a:buClr>
              <a:buSzPts val="900"/>
              <a:buFont typeface="Calibri"/>
              <a:buNone/>
            </a:pPr>
            <a:r>
              <a:rPr lang="en-US" sz="900">
                <a:solidFill>
                  <a:srgbClr val="93C5FD"/>
                </a:solidFill>
                <a:latin typeface="Calibri"/>
                <a:ea typeface="Calibri"/>
                <a:cs typeface="Calibri"/>
                <a:sym typeface="Calibri"/>
              </a:rPr>
              <a:t>3 / 14</a:t>
            </a:r>
            <a:endParaRPr sz="900">
              <a:solidFill>
                <a:schemeClr val="dk1"/>
              </a:solidFill>
              <a:latin typeface="Calibri"/>
              <a:ea typeface="Calibri"/>
              <a:cs typeface="Calibri"/>
              <a:sym typeface="Calibri"/>
            </a:endParaRPr>
          </a:p>
        </p:txBody>
      </p:sp>
      <p:pic>
        <p:nvPicPr>
          <p:cNvPr id="76" name="Google Shape;76;p5"/>
          <p:cNvPicPr preferRelativeResize="0"/>
          <p:nvPr/>
        </p:nvPicPr>
        <p:blipFill rotWithShape="1">
          <a:blip r:embed="rId3">
            <a:alphaModFix/>
          </a:blip>
          <a:srcRect b="0" l="0" r="0" t="0"/>
          <a:stretch/>
        </p:blipFill>
        <p:spPr>
          <a:xfrm>
            <a:off x="0" y="8721"/>
            <a:ext cx="2151088" cy="451386"/>
          </a:xfrm>
          <a:prstGeom prst="rect">
            <a:avLst/>
          </a:prstGeom>
          <a:noFill/>
          <a:ln>
            <a:noFill/>
          </a:ln>
        </p:spPr>
      </p:pic>
      <p:sp>
        <p:nvSpPr>
          <p:cNvPr id="77" name="Google Shape;77;p5"/>
          <p:cNvSpPr txBox="1"/>
          <p:nvPr/>
        </p:nvSpPr>
        <p:spPr>
          <a:xfrm>
            <a:off x="440150" y="1848600"/>
            <a:ext cx="8142000" cy="237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solidFill>
                  <a:srgbClr val="CFE2F3"/>
                </a:solidFill>
              </a:rPr>
              <a:t>The risk team needs to monitor default rates by loan grade, borrower income band, and loan purpose to flag high-risk segments.</a:t>
            </a:r>
            <a:endParaRPr sz="1800">
              <a:solidFill>
                <a:srgbClr val="CFE2F3"/>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rPr lang="en-US" sz="1800">
                <a:solidFill>
                  <a:srgbClr val="C9DAF8"/>
                </a:solidFill>
              </a:rPr>
              <a:t>Find which types of borrowers are more likely to miss loan payments.</a:t>
            </a:r>
            <a:endParaRPr sz="1800">
              <a:solidFill>
                <a:srgbClr val="C9DAF8"/>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rPr lang="en-US" sz="1800">
                <a:solidFill>
                  <a:srgbClr val="CFE2F3"/>
                </a:solidFill>
              </a:rPr>
              <a:t>Help the risk team make better loan approval decisions using data</a:t>
            </a:r>
            <a:r>
              <a:rPr b="1" lang="en-US" sz="1100">
                <a:solidFill>
                  <a:schemeClr val="dk1"/>
                </a:solidFill>
              </a:rPr>
              <a:t>.</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rgbClr val="CFE2F3"/>
              </a:solidFill>
            </a:endParaRPr>
          </a:p>
        </p:txBody>
      </p:sp>
      <p:sp>
        <p:nvSpPr>
          <p:cNvPr id="78" name="Google Shape;78;p5"/>
          <p:cNvSpPr/>
          <p:nvPr/>
        </p:nvSpPr>
        <p:spPr>
          <a:xfrm>
            <a:off x="0" y="2833824"/>
            <a:ext cx="164700" cy="634800"/>
          </a:xfrm>
          <a:prstGeom prst="rect">
            <a:avLst/>
          </a:prstGeom>
          <a:solidFill>
            <a:srgbClr val="2563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5"/>
          <p:cNvSpPr/>
          <p:nvPr/>
        </p:nvSpPr>
        <p:spPr>
          <a:xfrm>
            <a:off x="0" y="3747399"/>
            <a:ext cx="164700" cy="634800"/>
          </a:xfrm>
          <a:prstGeom prst="rect">
            <a:avLst/>
          </a:prstGeom>
          <a:solidFill>
            <a:srgbClr val="2563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6"/>
          <p:cNvSpPr/>
          <p:nvPr/>
        </p:nvSpPr>
        <p:spPr>
          <a:xfrm>
            <a:off x="0" y="0"/>
            <a:ext cx="9144000" cy="502920"/>
          </a:xfrm>
          <a:prstGeom prst="rect">
            <a:avLst/>
          </a:prstGeom>
          <a:solidFill>
            <a:srgbClr val="351C7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6"/>
          <p:cNvSpPr/>
          <p:nvPr/>
        </p:nvSpPr>
        <p:spPr>
          <a:xfrm>
            <a:off x="457200" y="59436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6B"/>
              </a:buClr>
              <a:buSzPts val="2600"/>
              <a:buFont typeface="Cambria"/>
              <a:buNone/>
            </a:pPr>
            <a:r>
              <a:rPr b="1" lang="en-US" sz="2600">
                <a:solidFill>
                  <a:srgbClr val="1B3A6B"/>
                </a:solidFill>
                <a:latin typeface="Cambria"/>
                <a:ea typeface="Cambria"/>
                <a:cs typeface="Cambria"/>
                <a:sym typeface="Cambria"/>
              </a:rPr>
              <a:t>Problem Statement &amp; Objectives</a:t>
            </a:r>
            <a:endParaRPr sz="2600">
              <a:solidFill>
                <a:schemeClr val="dk1"/>
              </a:solidFill>
              <a:latin typeface="Calibri"/>
              <a:ea typeface="Calibri"/>
              <a:cs typeface="Calibri"/>
              <a:sym typeface="Calibri"/>
            </a:endParaRPr>
          </a:p>
        </p:txBody>
      </p:sp>
      <p:sp>
        <p:nvSpPr>
          <p:cNvPr id="87" name="Google Shape;87;p6"/>
          <p:cNvSpPr/>
          <p:nvPr/>
        </p:nvSpPr>
        <p:spPr>
          <a:xfrm>
            <a:off x="365760" y="1143000"/>
            <a:ext cx="3931920" cy="1554480"/>
          </a:xfrm>
          <a:prstGeom prst="roundRect">
            <a:avLst>
              <a:gd fmla="val 4706" name="adj"/>
            </a:avLst>
          </a:prstGeom>
          <a:solidFill>
            <a:srgbClr val="FFFFFF"/>
          </a:solidFill>
          <a:ln cap="flat" cmpd="sng" w="12700">
            <a:solidFill>
              <a:srgbClr val="E2E8F0"/>
            </a:solidFill>
            <a:prstDash val="solid"/>
            <a:round/>
            <a:headEnd len="sm" w="sm" type="none"/>
            <a:tailEnd len="sm" w="sm" type="none"/>
          </a:ln>
          <a:effectLst>
            <a:outerShdw blurRad="101600" rotWithShape="0" algn="bl" dir="27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6"/>
          <p:cNvSpPr/>
          <p:nvPr/>
        </p:nvSpPr>
        <p:spPr>
          <a:xfrm>
            <a:off x="365760" y="1143000"/>
            <a:ext cx="3931920" cy="54864"/>
          </a:xfrm>
          <a:prstGeom prst="roundRect">
            <a:avLst>
              <a:gd fmla="val 133333" name="adj"/>
            </a:avLst>
          </a:prstGeom>
          <a:solidFill>
            <a:srgbClr val="C27B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6"/>
          <p:cNvSpPr/>
          <p:nvPr/>
        </p:nvSpPr>
        <p:spPr>
          <a:xfrm>
            <a:off x="502920" y="123444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A580C"/>
              </a:buClr>
              <a:buSzPts val="1200"/>
              <a:buFont typeface="Calibri"/>
              <a:buNone/>
            </a:pPr>
            <a:r>
              <a:rPr b="1" lang="en-US" sz="1500">
                <a:solidFill>
                  <a:srgbClr val="674EA7"/>
                </a:solidFill>
                <a:latin typeface="Calibri"/>
                <a:ea typeface="Calibri"/>
                <a:cs typeface="Calibri"/>
                <a:sym typeface="Calibri"/>
              </a:rPr>
              <a:t>                   </a:t>
            </a:r>
            <a:r>
              <a:rPr b="1" lang="en-US" sz="1600">
                <a:solidFill>
                  <a:srgbClr val="674EA7"/>
                </a:solidFill>
                <a:latin typeface="Calibri"/>
                <a:ea typeface="Calibri"/>
                <a:cs typeface="Calibri"/>
                <a:sym typeface="Calibri"/>
              </a:rPr>
              <a:t>  </a:t>
            </a:r>
            <a:r>
              <a:rPr b="1" lang="en-US" sz="1600">
                <a:solidFill>
                  <a:srgbClr val="674EA7"/>
                </a:solidFill>
                <a:latin typeface="Calibri"/>
                <a:ea typeface="Calibri"/>
                <a:cs typeface="Calibri"/>
                <a:sym typeface="Calibri"/>
              </a:rPr>
              <a:t>The Problem</a:t>
            </a:r>
            <a:endParaRPr b="1" sz="1600">
              <a:solidFill>
                <a:srgbClr val="674EA7"/>
              </a:solidFill>
              <a:latin typeface="Calibri"/>
              <a:ea typeface="Calibri"/>
              <a:cs typeface="Calibri"/>
              <a:sym typeface="Calibri"/>
            </a:endParaRPr>
          </a:p>
        </p:txBody>
      </p:sp>
      <p:sp>
        <p:nvSpPr>
          <p:cNvPr id="90" name="Google Shape;90;p6"/>
          <p:cNvSpPr/>
          <p:nvPr/>
        </p:nvSpPr>
        <p:spPr>
          <a:xfrm>
            <a:off x="502925" y="1495725"/>
            <a:ext cx="3794700" cy="1179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rgbClr val="351C75"/>
                </a:solidFill>
                <a:latin typeface="Calibri"/>
                <a:ea typeface="Calibri"/>
                <a:cs typeface="Calibri"/>
                <a:sym typeface="Calibri"/>
              </a:rPr>
              <a:t>Banks provide loans to thousands of customers every year. It becomes difficult for the risk team to manually monitor all loan records and identify borrowers who may default on their loans.</a:t>
            </a:r>
            <a:endParaRPr>
              <a:solidFill>
                <a:srgbClr val="351C75"/>
              </a:solidFill>
              <a:latin typeface="Calibri"/>
              <a:ea typeface="Calibri"/>
              <a:cs typeface="Calibri"/>
              <a:sym typeface="Calibri"/>
            </a:endParaRPr>
          </a:p>
          <a:p>
            <a:pPr indent="0" lvl="0" marL="0" marR="0" rtl="0" algn="l">
              <a:spcBef>
                <a:spcPts val="120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p:txBody>
      </p:sp>
      <p:sp>
        <p:nvSpPr>
          <p:cNvPr id="91" name="Google Shape;91;p6"/>
          <p:cNvSpPr/>
          <p:nvPr/>
        </p:nvSpPr>
        <p:spPr>
          <a:xfrm>
            <a:off x="4572000" y="1143000"/>
            <a:ext cx="3931920" cy="1554480"/>
          </a:xfrm>
          <a:prstGeom prst="roundRect">
            <a:avLst>
              <a:gd fmla="val 4706" name="adj"/>
            </a:avLst>
          </a:prstGeom>
          <a:solidFill>
            <a:srgbClr val="FFFFFF"/>
          </a:solidFill>
          <a:ln cap="flat" cmpd="sng" w="12700">
            <a:solidFill>
              <a:srgbClr val="E2E8F0"/>
            </a:solidFill>
            <a:prstDash val="solid"/>
            <a:round/>
            <a:headEnd len="sm" w="sm" type="none"/>
            <a:tailEnd len="sm" w="sm" type="none"/>
          </a:ln>
          <a:effectLst>
            <a:outerShdw blurRad="101600" rotWithShape="0" algn="bl" dir="27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6"/>
          <p:cNvSpPr/>
          <p:nvPr/>
        </p:nvSpPr>
        <p:spPr>
          <a:xfrm>
            <a:off x="4572000" y="1143000"/>
            <a:ext cx="3931920" cy="54864"/>
          </a:xfrm>
          <a:prstGeom prst="roundRect">
            <a:avLst>
              <a:gd fmla="val 133333" name="adj"/>
            </a:avLst>
          </a:prstGeom>
          <a:solidFill>
            <a:srgbClr val="6D9E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6"/>
          <p:cNvSpPr/>
          <p:nvPr/>
        </p:nvSpPr>
        <p:spPr>
          <a:xfrm>
            <a:off x="4709160" y="123444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200"/>
              <a:buFont typeface="Calibri"/>
              <a:buNone/>
            </a:pPr>
            <a:r>
              <a:rPr b="1" lang="en-US" sz="1600">
                <a:solidFill>
                  <a:srgbClr val="A64D79"/>
                </a:solidFill>
                <a:latin typeface="Calibri"/>
                <a:ea typeface="Calibri"/>
                <a:cs typeface="Calibri"/>
                <a:sym typeface="Calibri"/>
              </a:rPr>
              <a:t>                         </a:t>
            </a:r>
            <a:r>
              <a:rPr b="1" lang="en-US" sz="1600">
                <a:solidFill>
                  <a:srgbClr val="A64D79"/>
                </a:solidFill>
                <a:latin typeface="Calibri"/>
                <a:ea typeface="Calibri"/>
                <a:cs typeface="Calibri"/>
                <a:sym typeface="Calibri"/>
              </a:rPr>
              <a:t>Target User</a:t>
            </a:r>
            <a:endParaRPr sz="1600">
              <a:solidFill>
                <a:srgbClr val="A64D79"/>
              </a:solidFill>
              <a:latin typeface="Calibri"/>
              <a:ea typeface="Calibri"/>
              <a:cs typeface="Calibri"/>
              <a:sym typeface="Calibri"/>
            </a:endParaRPr>
          </a:p>
        </p:txBody>
      </p:sp>
      <p:sp>
        <p:nvSpPr>
          <p:cNvPr id="94" name="Google Shape;94;p6"/>
          <p:cNvSpPr/>
          <p:nvPr/>
        </p:nvSpPr>
        <p:spPr>
          <a:xfrm>
            <a:off x="4709149" y="1559337"/>
            <a:ext cx="3931800" cy="1179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600">
                <a:solidFill>
                  <a:srgbClr val="351C75"/>
                </a:solidFill>
                <a:latin typeface="Calibri"/>
                <a:ea typeface="Calibri"/>
                <a:cs typeface="Calibri"/>
                <a:sym typeface="Calibri"/>
              </a:rPr>
              <a:t>- </a:t>
            </a:r>
            <a:r>
              <a:rPr lang="en-US" sz="1600">
                <a:solidFill>
                  <a:srgbClr val="351C75"/>
                </a:solidFill>
                <a:latin typeface="Calibri"/>
                <a:ea typeface="Calibri"/>
                <a:cs typeface="Calibri"/>
                <a:sym typeface="Calibri"/>
              </a:rPr>
              <a:t>Loan Managers</a:t>
            </a:r>
            <a:endParaRPr sz="1600">
              <a:solidFill>
                <a:srgbClr val="351C75"/>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600">
                <a:solidFill>
                  <a:srgbClr val="351C75"/>
                </a:solidFill>
                <a:latin typeface="Calibri"/>
                <a:ea typeface="Calibri"/>
                <a:cs typeface="Calibri"/>
                <a:sym typeface="Calibri"/>
              </a:rPr>
              <a:t>- Bank Management</a:t>
            </a:r>
            <a:endParaRPr sz="1600">
              <a:solidFill>
                <a:srgbClr val="351C75"/>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rPr lang="en-US" sz="1600">
                <a:solidFill>
                  <a:srgbClr val="351C75"/>
                </a:solidFill>
                <a:latin typeface="Calibri"/>
                <a:ea typeface="Calibri"/>
                <a:cs typeface="Calibri"/>
                <a:sym typeface="Calibri"/>
              </a:rPr>
              <a:t>- Risk Management Team </a:t>
            </a:r>
            <a:endParaRPr sz="1600">
              <a:solidFill>
                <a:srgbClr val="351C75"/>
              </a:solidFill>
              <a:latin typeface="Calibri"/>
              <a:ea typeface="Calibri"/>
              <a:cs typeface="Calibri"/>
              <a:sym typeface="Calibri"/>
            </a:endParaRPr>
          </a:p>
        </p:txBody>
      </p:sp>
      <p:sp>
        <p:nvSpPr>
          <p:cNvPr id="95" name="Google Shape;95;p6"/>
          <p:cNvSpPr/>
          <p:nvPr/>
        </p:nvSpPr>
        <p:spPr>
          <a:xfrm>
            <a:off x="365760" y="283464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6B"/>
              </a:buClr>
              <a:buSzPts val="1400"/>
              <a:buFont typeface="Calibri"/>
              <a:buNone/>
            </a:pPr>
            <a:r>
              <a:rPr b="1" lang="en-US" sz="1900">
                <a:solidFill>
                  <a:srgbClr val="674EA7"/>
                </a:solidFill>
                <a:latin typeface="Calibri"/>
                <a:ea typeface="Calibri"/>
                <a:cs typeface="Calibri"/>
                <a:sym typeface="Calibri"/>
              </a:rPr>
              <a:t>Project Objectives</a:t>
            </a:r>
            <a:endParaRPr sz="1900">
              <a:solidFill>
                <a:srgbClr val="674EA7"/>
              </a:solidFill>
              <a:latin typeface="Calibri"/>
              <a:ea typeface="Calibri"/>
              <a:cs typeface="Calibri"/>
              <a:sym typeface="Calibri"/>
            </a:endParaRPr>
          </a:p>
        </p:txBody>
      </p:sp>
      <p:grpSp>
        <p:nvGrpSpPr>
          <p:cNvPr id="96" name="Google Shape;96;p6"/>
          <p:cNvGrpSpPr/>
          <p:nvPr/>
        </p:nvGrpSpPr>
        <p:grpSpPr>
          <a:xfrm>
            <a:off x="80570" y="3185557"/>
            <a:ext cx="9144237" cy="1584166"/>
            <a:chOff x="365688" y="3193607"/>
            <a:chExt cx="8778187" cy="1067497"/>
          </a:xfrm>
        </p:grpSpPr>
        <p:sp>
          <p:nvSpPr>
            <p:cNvPr id="97" name="Google Shape;97;p6"/>
            <p:cNvSpPr/>
            <p:nvPr/>
          </p:nvSpPr>
          <p:spPr>
            <a:xfrm>
              <a:off x="365688" y="3309985"/>
              <a:ext cx="201300" cy="201300"/>
            </a:xfrm>
            <a:prstGeom prst="ellipse">
              <a:avLst/>
            </a:prstGeom>
            <a:solidFill>
              <a:srgbClr val="674EA7"/>
            </a:solidFill>
            <a:ln>
              <a:noFill/>
            </a:ln>
          </p:spPr>
          <p:txBody>
            <a:bodyPr anchorCtr="0" anchor="t" bIns="47575" lIns="95250" spcFirstLastPara="1" rIns="95250" wrap="square" tIns="47575">
              <a:noAutofit/>
            </a:bodyPr>
            <a:lstStyle/>
            <a:p>
              <a:pPr indent="0" lvl="0" marL="0" marR="0" rtl="0" algn="l">
                <a:spcBef>
                  <a:spcPts val="0"/>
                </a:spcBef>
                <a:spcAft>
                  <a:spcPts val="0"/>
                </a:spcAft>
                <a:buNone/>
              </a:pPr>
              <a:r>
                <a:t/>
              </a:r>
              <a:endParaRPr sz="2292">
                <a:solidFill>
                  <a:srgbClr val="A64D79"/>
                </a:solidFill>
                <a:latin typeface="Calibri"/>
                <a:ea typeface="Calibri"/>
                <a:cs typeface="Calibri"/>
                <a:sym typeface="Calibri"/>
              </a:endParaRPr>
            </a:p>
          </p:txBody>
        </p:sp>
        <p:sp>
          <p:nvSpPr>
            <p:cNvPr id="98" name="Google Shape;98;p6"/>
            <p:cNvSpPr/>
            <p:nvPr/>
          </p:nvSpPr>
          <p:spPr>
            <a:xfrm>
              <a:off x="640080" y="3246120"/>
              <a:ext cx="3931920" cy="320040"/>
            </a:xfrm>
            <a:prstGeom prst="rect">
              <a:avLst/>
            </a:prstGeom>
            <a:noFill/>
            <a:ln>
              <a:noFill/>
            </a:ln>
          </p:spPr>
          <p:txBody>
            <a:bodyPr anchorCtr="0" anchor="ctr" bIns="47575" lIns="95250" spcFirstLastPara="1" rIns="95250" wrap="square" tIns="47575">
              <a:noAutofit/>
            </a:bodyPr>
            <a:lstStyle/>
            <a:p>
              <a:pPr indent="0" lvl="0" marL="0" marR="0" rtl="0" algn="l">
                <a:spcBef>
                  <a:spcPts val="0"/>
                </a:spcBef>
                <a:spcAft>
                  <a:spcPts val="0"/>
                </a:spcAft>
                <a:buClr>
                  <a:srgbClr val="1E293B"/>
                </a:buClr>
                <a:buSzPts val="1198"/>
                <a:buFont typeface="Calibri"/>
                <a:buNone/>
              </a:pPr>
              <a:r>
                <a:rPr lang="en-US" sz="1615">
                  <a:solidFill>
                    <a:srgbClr val="A64D79"/>
                  </a:solidFill>
                  <a:latin typeface="Calibri"/>
                  <a:ea typeface="Calibri"/>
                  <a:cs typeface="Calibri"/>
                  <a:sym typeface="Calibri"/>
                </a:rPr>
                <a:t>Import and clean the Lending Club loan dataset using Power BI. </a:t>
              </a:r>
              <a:endParaRPr sz="1615">
                <a:solidFill>
                  <a:srgbClr val="A64D79"/>
                </a:solidFill>
                <a:latin typeface="Calibri"/>
                <a:ea typeface="Calibri"/>
                <a:cs typeface="Calibri"/>
                <a:sym typeface="Calibri"/>
              </a:endParaRPr>
            </a:p>
          </p:txBody>
        </p:sp>
        <p:sp>
          <p:nvSpPr>
            <p:cNvPr id="99" name="Google Shape;99;p6"/>
            <p:cNvSpPr/>
            <p:nvPr/>
          </p:nvSpPr>
          <p:spPr>
            <a:xfrm>
              <a:off x="365760" y="3657600"/>
              <a:ext cx="201168" cy="201168"/>
            </a:xfrm>
            <a:prstGeom prst="ellipse">
              <a:avLst/>
            </a:prstGeom>
            <a:solidFill>
              <a:srgbClr val="674EA7"/>
            </a:solidFill>
            <a:ln>
              <a:noFill/>
            </a:ln>
          </p:spPr>
          <p:txBody>
            <a:bodyPr anchorCtr="0" anchor="t" bIns="47575" lIns="95250" spcFirstLastPara="1" rIns="95250" wrap="square" tIns="47575">
              <a:noAutofit/>
            </a:bodyPr>
            <a:lstStyle/>
            <a:p>
              <a:pPr indent="0" lvl="0" marL="0" marR="0" rtl="0" algn="l">
                <a:spcBef>
                  <a:spcPts val="0"/>
                </a:spcBef>
                <a:spcAft>
                  <a:spcPts val="0"/>
                </a:spcAft>
                <a:buNone/>
              </a:pPr>
              <a:r>
                <a:t/>
              </a:r>
              <a:endParaRPr sz="2292">
                <a:solidFill>
                  <a:srgbClr val="A64D79"/>
                </a:solidFill>
                <a:latin typeface="Calibri"/>
                <a:ea typeface="Calibri"/>
                <a:cs typeface="Calibri"/>
                <a:sym typeface="Calibri"/>
              </a:endParaRPr>
            </a:p>
          </p:txBody>
        </p:sp>
        <p:sp>
          <p:nvSpPr>
            <p:cNvPr id="100" name="Google Shape;100;p6"/>
            <p:cNvSpPr/>
            <p:nvPr/>
          </p:nvSpPr>
          <p:spPr>
            <a:xfrm>
              <a:off x="640080" y="3593592"/>
              <a:ext cx="3931920" cy="320040"/>
            </a:xfrm>
            <a:prstGeom prst="rect">
              <a:avLst/>
            </a:prstGeom>
            <a:noFill/>
            <a:ln>
              <a:noFill/>
            </a:ln>
          </p:spPr>
          <p:txBody>
            <a:bodyPr anchorCtr="0" anchor="ctr" bIns="47575" lIns="95250" spcFirstLastPara="1" rIns="95250" wrap="square" tIns="47575">
              <a:noAutofit/>
            </a:bodyPr>
            <a:lstStyle/>
            <a:p>
              <a:pPr indent="0" lvl="0" marL="0" marR="0" rtl="0" algn="l">
                <a:spcBef>
                  <a:spcPts val="0"/>
                </a:spcBef>
                <a:spcAft>
                  <a:spcPts val="0"/>
                </a:spcAft>
                <a:buClr>
                  <a:srgbClr val="1E293B"/>
                </a:buClr>
                <a:buSzPts val="1198"/>
                <a:buFont typeface="Calibri"/>
                <a:buNone/>
              </a:pPr>
              <a:r>
                <a:rPr lang="en-US" sz="1615">
                  <a:solidFill>
                    <a:srgbClr val="A64D79"/>
                  </a:solidFill>
                  <a:latin typeface="Calibri"/>
                  <a:ea typeface="Calibri"/>
                  <a:cs typeface="Calibri"/>
                  <a:sym typeface="Calibri"/>
                </a:rPr>
                <a:t>Create DAX measures </a:t>
              </a:r>
              <a:endParaRPr sz="1615">
                <a:solidFill>
                  <a:srgbClr val="A64D79"/>
                </a:solidFill>
                <a:latin typeface="Calibri"/>
                <a:ea typeface="Calibri"/>
                <a:cs typeface="Calibri"/>
                <a:sym typeface="Calibri"/>
              </a:endParaRPr>
            </a:p>
          </p:txBody>
        </p:sp>
        <p:sp>
          <p:nvSpPr>
            <p:cNvPr id="101" name="Google Shape;101;p6"/>
            <p:cNvSpPr/>
            <p:nvPr/>
          </p:nvSpPr>
          <p:spPr>
            <a:xfrm>
              <a:off x="365760" y="4005072"/>
              <a:ext cx="201168" cy="201168"/>
            </a:xfrm>
            <a:prstGeom prst="ellipse">
              <a:avLst/>
            </a:prstGeom>
            <a:solidFill>
              <a:srgbClr val="674EA7"/>
            </a:solidFill>
            <a:ln>
              <a:noFill/>
            </a:ln>
          </p:spPr>
          <p:txBody>
            <a:bodyPr anchorCtr="0" anchor="t" bIns="47575" lIns="95250" spcFirstLastPara="1" rIns="95250" wrap="square" tIns="47575">
              <a:noAutofit/>
            </a:bodyPr>
            <a:lstStyle/>
            <a:p>
              <a:pPr indent="0" lvl="0" marL="0" marR="0" rtl="0" algn="l">
                <a:spcBef>
                  <a:spcPts val="0"/>
                </a:spcBef>
                <a:spcAft>
                  <a:spcPts val="0"/>
                </a:spcAft>
                <a:buNone/>
              </a:pPr>
              <a:r>
                <a:t/>
              </a:r>
              <a:endParaRPr sz="2292">
                <a:solidFill>
                  <a:srgbClr val="A64D79"/>
                </a:solidFill>
                <a:latin typeface="Calibri"/>
                <a:ea typeface="Calibri"/>
                <a:cs typeface="Calibri"/>
                <a:sym typeface="Calibri"/>
              </a:endParaRPr>
            </a:p>
          </p:txBody>
        </p:sp>
        <p:sp>
          <p:nvSpPr>
            <p:cNvPr id="102" name="Google Shape;102;p6"/>
            <p:cNvSpPr/>
            <p:nvPr/>
          </p:nvSpPr>
          <p:spPr>
            <a:xfrm>
              <a:off x="640080" y="3941064"/>
              <a:ext cx="3931920" cy="320040"/>
            </a:xfrm>
            <a:prstGeom prst="rect">
              <a:avLst/>
            </a:prstGeom>
            <a:noFill/>
            <a:ln>
              <a:noFill/>
            </a:ln>
          </p:spPr>
          <p:txBody>
            <a:bodyPr anchorCtr="0" anchor="ctr" bIns="47575" lIns="95250" spcFirstLastPara="1" rIns="95250" wrap="square" tIns="47575">
              <a:noAutofit/>
            </a:bodyPr>
            <a:lstStyle/>
            <a:p>
              <a:pPr indent="0" lvl="0" marL="0" marR="0" rtl="0" algn="l">
                <a:spcBef>
                  <a:spcPts val="0"/>
                </a:spcBef>
                <a:spcAft>
                  <a:spcPts val="0"/>
                </a:spcAft>
                <a:buClr>
                  <a:srgbClr val="1E293B"/>
                </a:buClr>
                <a:buSzPts val="1198"/>
                <a:buFont typeface="Calibri"/>
                <a:buNone/>
              </a:pPr>
              <a:r>
                <a:rPr lang="en-US" sz="1615">
                  <a:solidFill>
                    <a:srgbClr val="A64D79"/>
                  </a:solidFill>
                  <a:latin typeface="Calibri"/>
                  <a:ea typeface="Calibri"/>
                  <a:cs typeface="Calibri"/>
                  <a:sym typeface="Calibri"/>
                </a:rPr>
                <a:t>Build an interactive dashboard with KPI cards, charts, and slicers. </a:t>
              </a:r>
              <a:endParaRPr sz="1615">
                <a:solidFill>
                  <a:srgbClr val="A64D79"/>
                </a:solidFill>
                <a:latin typeface="Calibri"/>
                <a:ea typeface="Calibri"/>
                <a:cs typeface="Calibri"/>
                <a:sym typeface="Calibri"/>
              </a:endParaRPr>
            </a:p>
          </p:txBody>
        </p:sp>
        <p:sp>
          <p:nvSpPr>
            <p:cNvPr id="103" name="Google Shape;103;p6"/>
            <p:cNvSpPr/>
            <p:nvPr/>
          </p:nvSpPr>
          <p:spPr>
            <a:xfrm>
              <a:off x="4937760" y="3310128"/>
              <a:ext cx="201168" cy="201168"/>
            </a:xfrm>
            <a:prstGeom prst="ellipse">
              <a:avLst/>
            </a:prstGeom>
            <a:solidFill>
              <a:srgbClr val="674EA7"/>
            </a:solidFill>
            <a:ln>
              <a:noFill/>
            </a:ln>
          </p:spPr>
          <p:txBody>
            <a:bodyPr anchorCtr="0" anchor="t" bIns="47575" lIns="95250" spcFirstLastPara="1" rIns="95250" wrap="square" tIns="47575">
              <a:noAutofit/>
            </a:bodyPr>
            <a:lstStyle/>
            <a:p>
              <a:pPr indent="0" lvl="0" marL="0" marR="0" rtl="0" algn="l">
                <a:spcBef>
                  <a:spcPts val="0"/>
                </a:spcBef>
                <a:spcAft>
                  <a:spcPts val="0"/>
                </a:spcAft>
                <a:buNone/>
              </a:pPr>
              <a:r>
                <a:t/>
              </a:r>
              <a:endParaRPr sz="2292">
                <a:solidFill>
                  <a:srgbClr val="A64D79"/>
                </a:solidFill>
                <a:latin typeface="Calibri"/>
                <a:ea typeface="Calibri"/>
                <a:cs typeface="Calibri"/>
                <a:sym typeface="Calibri"/>
              </a:endParaRPr>
            </a:p>
          </p:txBody>
        </p:sp>
        <p:sp>
          <p:nvSpPr>
            <p:cNvPr id="104" name="Google Shape;104;p6"/>
            <p:cNvSpPr/>
            <p:nvPr/>
          </p:nvSpPr>
          <p:spPr>
            <a:xfrm>
              <a:off x="5138875" y="3193607"/>
              <a:ext cx="4005000" cy="502800"/>
            </a:xfrm>
            <a:prstGeom prst="rect">
              <a:avLst/>
            </a:prstGeom>
            <a:noFill/>
            <a:ln>
              <a:noFill/>
            </a:ln>
          </p:spPr>
          <p:txBody>
            <a:bodyPr anchorCtr="0" anchor="ctr" bIns="47575" lIns="95250" spcFirstLastPara="1" rIns="95250" wrap="square" tIns="47575">
              <a:noAutofit/>
            </a:bodyPr>
            <a:lstStyle/>
            <a:p>
              <a:pPr indent="0" lvl="0" marL="0" rtl="0" algn="l">
                <a:lnSpc>
                  <a:spcPct val="115000"/>
                </a:lnSpc>
                <a:spcBef>
                  <a:spcPts val="1250"/>
                </a:spcBef>
                <a:spcAft>
                  <a:spcPts val="0"/>
                </a:spcAft>
                <a:buClr>
                  <a:schemeClr val="dk1"/>
                </a:buClr>
                <a:buSzPts val="1146"/>
                <a:buFont typeface="Arial"/>
                <a:buNone/>
              </a:pPr>
              <a:r>
                <a:t/>
              </a:r>
              <a:endParaRPr sz="1615">
                <a:solidFill>
                  <a:srgbClr val="A64D79"/>
                </a:solidFill>
                <a:latin typeface="Calibri"/>
                <a:ea typeface="Calibri"/>
                <a:cs typeface="Calibri"/>
                <a:sym typeface="Calibri"/>
              </a:endParaRPr>
            </a:p>
            <a:p>
              <a:pPr indent="0" lvl="0" marL="0" rtl="0" algn="l">
                <a:lnSpc>
                  <a:spcPct val="115000"/>
                </a:lnSpc>
                <a:spcBef>
                  <a:spcPts val="1250"/>
                </a:spcBef>
                <a:spcAft>
                  <a:spcPts val="0"/>
                </a:spcAft>
                <a:buClr>
                  <a:schemeClr val="dk1"/>
                </a:buClr>
                <a:buSzPts val="1146"/>
                <a:buFont typeface="Arial"/>
                <a:buNone/>
              </a:pPr>
              <a:r>
                <a:rPr lang="en-US" sz="1615">
                  <a:solidFill>
                    <a:srgbClr val="A64D79"/>
                  </a:solidFill>
                  <a:latin typeface="Calibri"/>
                  <a:ea typeface="Calibri"/>
                  <a:cs typeface="Calibri"/>
                  <a:sym typeface="Calibri"/>
                </a:rPr>
                <a:t>Analyze loan data by Grade, Income Band, Loan Purpose, and Loan Status.</a:t>
              </a:r>
              <a:endParaRPr sz="1615">
                <a:solidFill>
                  <a:srgbClr val="A64D79"/>
                </a:solidFill>
                <a:latin typeface="Calibri"/>
                <a:ea typeface="Calibri"/>
                <a:cs typeface="Calibri"/>
                <a:sym typeface="Calibri"/>
              </a:endParaRPr>
            </a:p>
            <a:p>
              <a:pPr indent="0" lvl="0" marL="0" marR="0" rtl="0" algn="l">
                <a:spcBef>
                  <a:spcPts val="1250"/>
                </a:spcBef>
                <a:spcAft>
                  <a:spcPts val="0"/>
                </a:spcAft>
                <a:buClr>
                  <a:srgbClr val="1E293B"/>
                </a:buClr>
                <a:buSzPts val="1198"/>
                <a:buFont typeface="Calibri"/>
                <a:buNone/>
              </a:pPr>
              <a:r>
                <a:t/>
              </a:r>
              <a:endParaRPr sz="1615">
                <a:solidFill>
                  <a:srgbClr val="A64D79"/>
                </a:solidFill>
                <a:latin typeface="Calibri"/>
                <a:ea typeface="Calibri"/>
                <a:cs typeface="Calibri"/>
                <a:sym typeface="Calibri"/>
              </a:endParaRPr>
            </a:p>
          </p:txBody>
        </p:sp>
        <p:sp>
          <p:nvSpPr>
            <p:cNvPr id="105" name="Google Shape;105;p6"/>
            <p:cNvSpPr/>
            <p:nvPr/>
          </p:nvSpPr>
          <p:spPr>
            <a:xfrm>
              <a:off x="4937760" y="3794725"/>
              <a:ext cx="201300" cy="201300"/>
            </a:xfrm>
            <a:prstGeom prst="ellipse">
              <a:avLst/>
            </a:prstGeom>
            <a:solidFill>
              <a:srgbClr val="674EA7"/>
            </a:solidFill>
            <a:ln>
              <a:noFill/>
            </a:ln>
          </p:spPr>
          <p:txBody>
            <a:bodyPr anchorCtr="0" anchor="t" bIns="47575" lIns="95250" spcFirstLastPara="1" rIns="95250" wrap="square" tIns="47575">
              <a:noAutofit/>
            </a:bodyPr>
            <a:lstStyle/>
            <a:p>
              <a:pPr indent="0" lvl="0" marL="0" marR="0" rtl="0" algn="l">
                <a:spcBef>
                  <a:spcPts val="0"/>
                </a:spcBef>
                <a:spcAft>
                  <a:spcPts val="0"/>
                </a:spcAft>
                <a:buNone/>
              </a:pPr>
              <a:r>
                <a:t/>
              </a:r>
              <a:endParaRPr sz="2292">
                <a:solidFill>
                  <a:srgbClr val="A64D79"/>
                </a:solidFill>
                <a:latin typeface="Calibri"/>
                <a:ea typeface="Calibri"/>
                <a:cs typeface="Calibri"/>
                <a:sym typeface="Calibri"/>
              </a:endParaRPr>
            </a:p>
          </p:txBody>
        </p:sp>
        <p:sp>
          <p:nvSpPr>
            <p:cNvPr id="106" name="Google Shape;106;p6"/>
            <p:cNvSpPr/>
            <p:nvPr/>
          </p:nvSpPr>
          <p:spPr>
            <a:xfrm>
              <a:off x="5175468" y="3735355"/>
              <a:ext cx="3931800" cy="320100"/>
            </a:xfrm>
            <a:prstGeom prst="rect">
              <a:avLst/>
            </a:prstGeom>
            <a:noFill/>
            <a:ln>
              <a:noFill/>
            </a:ln>
          </p:spPr>
          <p:txBody>
            <a:bodyPr anchorCtr="0" anchor="ctr" bIns="47575" lIns="95250" spcFirstLastPara="1" rIns="95250" wrap="square" tIns="47575">
              <a:noAutofit/>
            </a:bodyPr>
            <a:lstStyle/>
            <a:p>
              <a:pPr indent="0" lvl="0" marL="0" marR="0" rtl="0" algn="l">
                <a:spcBef>
                  <a:spcPts val="0"/>
                </a:spcBef>
                <a:spcAft>
                  <a:spcPts val="0"/>
                </a:spcAft>
                <a:buClr>
                  <a:srgbClr val="1E293B"/>
                </a:buClr>
                <a:buSzPts val="1198"/>
                <a:buFont typeface="Calibri"/>
                <a:buNone/>
              </a:pPr>
              <a:r>
                <a:rPr lang="en-US" sz="1615">
                  <a:solidFill>
                    <a:srgbClr val="A64D79"/>
                  </a:solidFill>
                  <a:latin typeface="Calibri"/>
                  <a:ea typeface="Calibri"/>
                  <a:cs typeface="Calibri"/>
                  <a:sym typeface="Calibri"/>
                </a:rPr>
                <a:t>Help the bank identify high-risk borrower segments for better decision-making. </a:t>
              </a:r>
              <a:endParaRPr sz="1615">
                <a:solidFill>
                  <a:srgbClr val="A64D79"/>
                </a:solidFill>
                <a:latin typeface="Calibri"/>
                <a:ea typeface="Calibri"/>
                <a:cs typeface="Calibri"/>
                <a:sym typeface="Calibri"/>
              </a:endParaRPr>
            </a:p>
          </p:txBody>
        </p:sp>
      </p:grpSp>
      <p:sp>
        <p:nvSpPr>
          <p:cNvPr id="107" name="Google Shape;107;p6"/>
          <p:cNvSpPr/>
          <p:nvPr/>
        </p:nvSpPr>
        <p:spPr>
          <a:xfrm>
            <a:off x="8046720" y="48006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4 / 14</a:t>
            </a:r>
            <a:endParaRPr sz="900">
              <a:solidFill>
                <a:schemeClr val="dk1"/>
              </a:solidFill>
              <a:latin typeface="Calibri"/>
              <a:ea typeface="Calibri"/>
              <a:cs typeface="Calibri"/>
              <a:sym typeface="Calibri"/>
            </a:endParaRPr>
          </a:p>
        </p:txBody>
      </p:sp>
      <p:pic>
        <p:nvPicPr>
          <p:cNvPr id="108" name="Google Shape;108;p6"/>
          <p:cNvPicPr preferRelativeResize="0"/>
          <p:nvPr/>
        </p:nvPicPr>
        <p:blipFill rotWithShape="1">
          <a:blip r:embed="rId3">
            <a:alphaModFix/>
          </a:blip>
          <a:srcRect b="0" l="0" r="0" t="0"/>
          <a:stretch/>
        </p:blipFill>
        <p:spPr>
          <a:xfrm>
            <a:off x="0" y="8721"/>
            <a:ext cx="2151088" cy="45138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113" name="Shape 113"/>
        <p:cNvGrpSpPr/>
        <p:nvPr/>
      </p:nvGrpSpPr>
      <p:grpSpPr>
        <a:xfrm>
          <a:off x="0" y="0"/>
          <a:ext cx="0" cy="0"/>
          <a:chOff x="0" y="0"/>
          <a:chExt cx="0" cy="0"/>
        </a:xfrm>
      </p:grpSpPr>
      <p:sp>
        <p:nvSpPr>
          <p:cNvPr id="114" name="Google Shape;114;p7"/>
          <p:cNvSpPr/>
          <p:nvPr/>
        </p:nvSpPr>
        <p:spPr>
          <a:xfrm>
            <a:off x="0" y="1920240"/>
            <a:ext cx="164592" cy="1188720"/>
          </a:xfrm>
          <a:prstGeom prst="rect">
            <a:avLst/>
          </a:prstGeom>
          <a:solidFill>
            <a:srgbClr val="2563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7"/>
          <p:cNvSpPr/>
          <p:nvPr/>
        </p:nvSpPr>
        <p:spPr>
          <a:xfrm>
            <a:off x="457200" y="1828800"/>
            <a:ext cx="8229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mbria"/>
              <a:buNone/>
            </a:pPr>
            <a:r>
              <a:rPr b="1" lang="en-US" sz="3600">
                <a:solidFill>
                  <a:srgbClr val="FFFFFF"/>
                </a:solidFill>
                <a:latin typeface="Cambria"/>
                <a:ea typeface="Cambria"/>
                <a:cs typeface="Cambria"/>
                <a:sym typeface="Cambria"/>
              </a:rPr>
              <a:t>02  Dataset Overview</a:t>
            </a:r>
            <a:endParaRPr sz="3600">
              <a:solidFill>
                <a:schemeClr val="dk1"/>
              </a:solidFill>
              <a:latin typeface="Calibri"/>
              <a:ea typeface="Calibri"/>
              <a:cs typeface="Calibri"/>
              <a:sym typeface="Calibri"/>
            </a:endParaRPr>
          </a:p>
        </p:txBody>
      </p:sp>
      <p:sp>
        <p:nvSpPr>
          <p:cNvPr id="116" name="Google Shape;116;p7"/>
          <p:cNvSpPr/>
          <p:nvPr/>
        </p:nvSpPr>
        <p:spPr>
          <a:xfrm>
            <a:off x="457200" y="269748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FD"/>
              </a:buClr>
              <a:buSzPts val="1600"/>
              <a:buFont typeface="Calibri"/>
              <a:buNone/>
            </a:pPr>
            <a:r>
              <a:rPr lang="en-US" sz="1600">
                <a:solidFill>
                  <a:srgbClr val="93C5FD"/>
                </a:solidFill>
                <a:latin typeface="Calibri"/>
                <a:ea typeface="Calibri"/>
                <a:cs typeface="Calibri"/>
                <a:sym typeface="Calibri"/>
              </a:rPr>
              <a:t>Source, structure, and key fields</a:t>
            </a:r>
            <a:endParaRPr sz="1600">
              <a:solidFill>
                <a:schemeClr val="dk1"/>
              </a:solidFill>
              <a:latin typeface="Calibri"/>
              <a:ea typeface="Calibri"/>
              <a:cs typeface="Calibri"/>
              <a:sym typeface="Calibri"/>
            </a:endParaRPr>
          </a:p>
        </p:txBody>
      </p:sp>
      <p:sp>
        <p:nvSpPr>
          <p:cNvPr id="117" name="Google Shape;117;p7"/>
          <p:cNvSpPr/>
          <p:nvPr/>
        </p:nvSpPr>
        <p:spPr>
          <a:xfrm>
            <a:off x="8046720" y="48006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3C5FD"/>
              </a:buClr>
              <a:buSzPts val="900"/>
              <a:buFont typeface="Calibri"/>
              <a:buNone/>
            </a:pPr>
            <a:r>
              <a:rPr lang="en-US" sz="900">
                <a:solidFill>
                  <a:srgbClr val="93C5FD"/>
                </a:solidFill>
                <a:latin typeface="Calibri"/>
                <a:ea typeface="Calibri"/>
                <a:cs typeface="Calibri"/>
                <a:sym typeface="Calibri"/>
              </a:rPr>
              <a:t>5 / 14</a:t>
            </a:r>
            <a:endParaRPr sz="900">
              <a:solidFill>
                <a:schemeClr val="dk1"/>
              </a:solidFill>
              <a:latin typeface="Calibri"/>
              <a:ea typeface="Calibri"/>
              <a:cs typeface="Calibri"/>
              <a:sym typeface="Calibri"/>
            </a:endParaRPr>
          </a:p>
        </p:txBody>
      </p:sp>
      <p:pic>
        <p:nvPicPr>
          <p:cNvPr id="118" name="Google Shape;118;p7"/>
          <p:cNvPicPr preferRelativeResize="0"/>
          <p:nvPr/>
        </p:nvPicPr>
        <p:blipFill rotWithShape="1">
          <a:blip r:embed="rId3">
            <a:alphaModFix/>
          </a:blip>
          <a:srcRect b="0" l="0" r="0" t="0"/>
          <a:stretch/>
        </p:blipFill>
        <p:spPr>
          <a:xfrm>
            <a:off x="0" y="8721"/>
            <a:ext cx="2151088" cy="45138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p:nvPr/>
        </p:nvSpPr>
        <p:spPr>
          <a:xfrm>
            <a:off x="0" y="6275"/>
            <a:ext cx="9144000" cy="502800"/>
          </a:xfrm>
          <a:prstGeom prst="rect">
            <a:avLst/>
          </a:prstGeom>
          <a:solidFill>
            <a:srgbClr val="1B3A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8"/>
          <p:cNvSpPr/>
          <p:nvPr/>
        </p:nvSpPr>
        <p:spPr>
          <a:xfrm>
            <a:off x="457200" y="59436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6B"/>
              </a:buClr>
              <a:buSzPts val="2600"/>
              <a:buFont typeface="Cambria"/>
              <a:buNone/>
            </a:pPr>
            <a:r>
              <a:rPr b="1" lang="en-US" sz="2600">
                <a:solidFill>
                  <a:srgbClr val="1B3A6B"/>
                </a:solidFill>
                <a:latin typeface="Cambria"/>
                <a:ea typeface="Cambria"/>
                <a:cs typeface="Cambria"/>
                <a:sym typeface="Cambria"/>
              </a:rPr>
              <a:t>Dataset Overview</a:t>
            </a:r>
            <a:endParaRPr sz="2600">
              <a:solidFill>
                <a:schemeClr val="dk1"/>
              </a:solidFill>
              <a:latin typeface="Calibri"/>
              <a:ea typeface="Calibri"/>
              <a:cs typeface="Calibri"/>
              <a:sym typeface="Calibri"/>
            </a:endParaRPr>
          </a:p>
        </p:txBody>
      </p:sp>
      <p:sp>
        <p:nvSpPr>
          <p:cNvPr id="126" name="Google Shape;126;p8"/>
          <p:cNvSpPr/>
          <p:nvPr/>
        </p:nvSpPr>
        <p:spPr>
          <a:xfrm>
            <a:off x="365760" y="1097280"/>
            <a:ext cx="1920240" cy="1097280"/>
          </a:xfrm>
          <a:prstGeom prst="roundRect">
            <a:avLst>
              <a:gd fmla="val 8333" name="adj"/>
            </a:avLst>
          </a:prstGeom>
          <a:solidFill>
            <a:srgbClr val="EFF6FF"/>
          </a:solidFill>
          <a:ln cap="flat" cmpd="sng" w="12700">
            <a:solidFill>
              <a:srgbClr val="DBEAFE"/>
            </a:solidFill>
            <a:prstDash val="solid"/>
            <a:round/>
            <a:headEnd len="sm" w="sm" type="none"/>
            <a:tailEnd len="sm" w="sm" type="none"/>
          </a:ln>
          <a:effectLst>
            <a:outerShdw blurRad="101600" rotWithShape="0" algn="bl" dir="27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8"/>
          <p:cNvSpPr/>
          <p:nvPr/>
        </p:nvSpPr>
        <p:spPr>
          <a:xfrm>
            <a:off x="365750" y="1312075"/>
            <a:ext cx="1828800" cy="58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6B"/>
              </a:buClr>
              <a:buSzPts val="3000"/>
              <a:buFont typeface="Cambria"/>
              <a:buNone/>
            </a:pPr>
            <a:r>
              <a:rPr b="1" lang="en-US" sz="3000">
                <a:solidFill>
                  <a:srgbClr val="1B3A6B"/>
                </a:solidFill>
                <a:latin typeface="Cambria"/>
                <a:ea typeface="Cambria"/>
                <a:cs typeface="Cambria"/>
                <a:sym typeface="Cambria"/>
              </a:rPr>
              <a:t>Kaggle </a:t>
            </a:r>
            <a:endParaRPr sz="3000">
              <a:solidFill>
                <a:schemeClr val="dk1"/>
              </a:solidFill>
              <a:latin typeface="Calibri"/>
              <a:ea typeface="Calibri"/>
              <a:cs typeface="Calibri"/>
              <a:sym typeface="Calibri"/>
            </a:endParaRPr>
          </a:p>
        </p:txBody>
      </p:sp>
      <p:sp>
        <p:nvSpPr>
          <p:cNvPr id="128" name="Google Shape;128;p8"/>
          <p:cNvSpPr/>
          <p:nvPr/>
        </p:nvSpPr>
        <p:spPr>
          <a:xfrm>
            <a:off x="2514600" y="1097280"/>
            <a:ext cx="1920240" cy="1097280"/>
          </a:xfrm>
          <a:prstGeom prst="roundRect">
            <a:avLst>
              <a:gd fmla="val 8333" name="adj"/>
            </a:avLst>
          </a:prstGeom>
          <a:solidFill>
            <a:srgbClr val="EFF6FF"/>
          </a:solidFill>
          <a:ln cap="flat" cmpd="sng" w="12700">
            <a:solidFill>
              <a:srgbClr val="DBEAFE"/>
            </a:solidFill>
            <a:prstDash val="solid"/>
            <a:round/>
            <a:headEnd len="sm" w="sm" type="none"/>
            <a:tailEnd len="sm" w="sm" type="none"/>
          </a:ln>
          <a:effectLst>
            <a:outerShdw blurRad="101600" rotWithShape="0" algn="bl" dir="27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8"/>
          <p:cNvSpPr/>
          <p:nvPr/>
        </p:nvSpPr>
        <p:spPr>
          <a:xfrm>
            <a:off x="2606040" y="1348740"/>
            <a:ext cx="17373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6B"/>
              </a:buClr>
              <a:buSzPts val="3000"/>
              <a:buFont typeface="Cambria"/>
              <a:buNone/>
            </a:pPr>
            <a:r>
              <a:rPr b="1" lang="en-US" sz="3300">
                <a:solidFill>
                  <a:srgbClr val="1B3A6B"/>
                </a:solidFill>
                <a:latin typeface="Cambria"/>
                <a:ea typeface="Cambria"/>
                <a:cs typeface="Cambria"/>
                <a:sym typeface="Cambria"/>
              </a:rPr>
              <a:t>CSV </a:t>
            </a:r>
            <a:endParaRPr sz="3300">
              <a:solidFill>
                <a:schemeClr val="dk1"/>
              </a:solidFill>
              <a:latin typeface="Calibri"/>
              <a:ea typeface="Calibri"/>
              <a:cs typeface="Calibri"/>
              <a:sym typeface="Calibri"/>
            </a:endParaRPr>
          </a:p>
        </p:txBody>
      </p:sp>
      <p:sp>
        <p:nvSpPr>
          <p:cNvPr id="130" name="Google Shape;130;p8"/>
          <p:cNvSpPr/>
          <p:nvPr/>
        </p:nvSpPr>
        <p:spPr>
          <a:xfrm>
            <a:off x="4663440" y="1097280"/>
            <a:ext cx="1920240" cy="1097280"/>
          </a:xfrm>
          <a:prstGeom prst="roundRect">
            <a:avLst>
              <a:gd fmla="val 8333" name="adj"/>
            </a:avLst>
          </a:prstGeom>
          <a:solidFill>
            <a:srgbClr val="EFF6FF"/>
          </a:solidFill>
          <a:ln cap="flat" cmpd="sng" w="12700">
            <a:solidFill>
              <a:srgbClr val="DBEAFE"/>
            </a:solidFill>
            <a:prstDash val="solid"/>
            <a:round/>
            <a:headEnd len="sm" w="sm" type="none"/>
            <a:tailEnd len="sm" w="sm" type="none"/>
          </a:ln>
          <a:effectLst>
            <a:outerShdw blurRad="101600" rotWithShape="0" algn="bl" dir="27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8"/>
          <p:cNvSpPr/>
          <p:nvPr/>
        </p:nvSpPr>
        <p:spPr>
          <a:xfrm>
            <a:off x="4754918" y="1312065"/>
            <a:ext cx="17373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6B"/>
              </a:buClr>
              <a:buSzPts val="3000"/>
              <a:buFont typeface="Cambria"/>
              <a:buNone/>
            </a:pPr>
            <a:r>
              <a:rPr b="1" lang="en-US" sz="3000">
                <a:solidFill>
                  <a:srgbClr val="1B3A6B"/>
                </a:solidFill>
                <a:latin typeface="Cambria"/>
                <a:ea typeface="Cambria"/>
                <a:cs typeface="Cambria"/>
                <a:sym typeface="Cambria"/>
              </a:rPr>
              <a:t>10,000 Rows</a:t>
            </a:r>
            <a:endParaRPr sz="3000">
              <a:solidFill>
                <a:schemeClr val="dk1"/>
              </a:solidFill>
              <a:latin typeface="Calibri"/>
              <a:ea typeface="Calibri"/>
              <a:cs typeface="Calibri"/>
              <a:sym typeface="Calibri"/>
            </a:endParaRPr>
          </a:p>
        </p:txBody>
      </p:sp>
      <p:sp>
        <p:nvSpPr>
          <p:cNvPr id="132" name="Google Shape;132;p8"/>
          <p:cNvSpPr/>
          <p:nvPr/>
        </p:nvSpPr>
        <p:spPr>
          <a:xfrm>
            <a:off x="6812280" y="1097280"/>
            <a:ext cx="1920240" cy="1097280"/>
          </a:xfrm>
          <a:prstGeom prst="roundRect">
            <a:avLst>
              <a:gd fmla="val 8333" name="adj"/>
            </a:avLst>
          </a:prstGeom>
          <a:solidFill>
            <a:srgbClr val="EFF6FF"/>
          </a:solidFill>
          <a:ln cap="flat" cmpd="sng" w="12700">
            <a:solidFill>
              <a:srgbClr val="DBEAFE"/>
            </a:solidFill>
            <a:prstDash val="solid"/>
            <a:round/>
            <a:headEnd len="sm" w="sm" type="none"/>
            <a:tailEnd len="sm" w="sm" type="none"/>
          </a:ln>
          <a:effectLst>
            <a:outerShdw blurRad="101600" rotWithShape="0" algn="bl" dir="27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8"/>
          <p:cNvSpPr/>
          <p:nvPr/>
        </p:nvSpPr>
        <p:spPr>
          <a:xfrm>
            <a:off x="6903770" y="1394503"/>
            <a:ext cx="17373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6B"/>
              </a:buClr>
              <a:buSzPts val="3000"/>
              <a:buFont typeface="Cambria"/>
              <a:buNone/>
            </a:pPr>
            <a:r>
              <a:rPr b="1" lang="en-US" sz="3000">
                <a:solidFill>
                  <a:srgbClr val="1B3A6B"/>
                </a:solidFill>
                <a:latin typeface="Cambria"/>
                <a:ea typeface="Cambria"/>
                <a:cs typeface="Cambria"/>
                <a:sym typeface="Cambria"/>
              </a:rPr>
              <a:t>55</a:t>
            </a:r>
            <a:endParaRPr b="1" sz="3000">
              <a:solidFill>
                <a:srgbClr val="1B3A6B"/>
              </a:solidFill>
              <a:latin typeface="Cambria"/>
              <a:ea typeface="Cambria"/>
              <a:cs typeface="Cambria"/>
              <a:sym typeface="Cambria"/>
            </a:endParaRPr>
          </a:p>
          <a:p>
            <a:pPr indent="0" lvl="0" marL="0" marR="0" rtl="0" algn="ctr">
              <a:spcBef>
                <a:spcPts val="0"/>
              </a:spcBef>
              <a:spcAft>
                <a:spcPts val="0"/>
              </a:spcAft>
              <a:buClr>
                <a:srgbClr val="1B3A6B"/>
              </a:buClr>
              <a:buSzPts val="3000"/>
              <a:buFont typeface="Cambria"/>
              <a:buNone/>
            </a:pPr>
            <a:r>
              <a:rPr b="1" lang="en-US" sz="3000">
                <a:solidFill>
                  <a:srgbClr val="1B3A6B"/>
                </a:solidFill>
                <a:latin typeface="Cambria"/>
                <a:ea typeface="Cambria"/>
                <a:cs typeface="Cambria"/>
                <a:sym typeface="Cambria"/>
              </a:rPr>
              <a:t>Columns</a:t>
            </a:r>
            <a:endParaRPr b="1" sz="3000">
              <a:solidFill>
                <a:srgbClr val="1B3A6B"/>
              </a:solidFill>
              <a:latin typeface="Cambria"/>
              <a:ea typeface="Cambria"/>
              <a:cs typeface="Cambria"/>
              <a:sym typeface="Cambria"/>
            </a:endParaRPr>
          </a:p>
        </p:txBody>
      </p:sp>
      <p:sp>
        <p:nvSpPr>
          <p:cNvPr id="134" name="Google Shape;134;p8"/>
          <p:cNvSpPr/>
          <p:nvPr/>
        </p:nvSpPr>
        <p:spPr>
          <a:xfrm>
            <a:off x="365760" y="2377440"/>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6B"/>
              </a:buClr>
              <a:buSzPts val="1300"/>
              <a:buFont typeface="Calibri"/>
              <a:buNone/>
            </a:pPr>
            <a:r>
              <a:rPr b="1" lang="en-US" sz="1300">
                <a:solidFill>
                  <a:srgbClr val="1B3A6B"/>
                </a:solidFill>
                <a:latin typeface="Calibri"/>
                <a:ea typeface="Calibri"/>
                <a:cs typeface="Calibri"/>
                <a:sym typeface="Calibri"/>
              </a:rPr>
              <a:t>Key Columns Used</a:t>
            </a:r>
            <a:endParaRPr sz="1300">
              <a:solidFill>
                <a:schemeClr val="dk1"/>
              </a:solidFill>
              <a:latin typeface="Calibri"/>
              <a:ea typeface="Calibri"/>
              <a:cs typeface="Calibri"/>
              <a:sym typeface="Calibri"/>
            </a:endParaRPr>
          </a:p>
        </p:txBody>
      </p:sp>
      <p:sp>
        <p:nvSpPr>
          <p:cNvPr id="135" name="Google Shape;135;p8"/>
          <p:cNvSpPr/>
          <p:nvPr/>
        </p:nvSpPr>
        <p:spPr>
          <a:xfrm>
            <a:off x="8046720" y="48006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6 / 14</a:t>
            </a:r>
            <a:endParaRPr sz="900">
              <a:solidFill>
                <a:schemeClr val="dk1"/>
              </a:solidFill>
              <a:latin typeface="Calibri"/>
              <a:ea typeface="Calibri"/>
              <a:cs typeface="Calibri"/>
              <a:sym typeface="Calibri"/>
            </a:endParaRPr>
          </a:p>
        </p:txBody>
      </p:sp>
      <p:pic>
        <p:nvPicPr>
          <p:cNvPr id="136" name="Google Shape;136;p8"/>
          <p:cNvPicPr preferRelativeResize="0"/>
          <p:nvPr/>
        </p:nvPicPr>
        <p:blipFill rotWithShape="1">
          <a:blip r:embed="rId3">
            <a:alphaModFix/>
          </a:blip>
          <a:srcRect b="0" l="0" r="0" t="0"/>
          <a:stretch/>
        </p:blipFill>
        <p:spPr>
          <a:xfrm>
            <a:off x="0" y="8721"/>
            <a:ext cx="2151088" cy="451386"/>
          </a:xfrm>
          <a:prstGeom prst="rect">
            <a:avLst/>
          </a:prstGeom>
          <a:noFill/>
          <a:ln>
            <a:noFill/>
          </a:ln>
        </p:spPr>
      </p:pic>
      <p:graphicFrame>
        <p:nvGraphicFramePr>
          <p:cNvPr id="137" name="Google Shape;137;p8"/>
          <p:cNvGraphicFramePr/>
          <p:nvPr/>
        </p:nvGraphicFramePr>
        <p:xfrm>
          <a:off x="304800" y="304800"/>
          <a:ext cx="3000000" cy="3000000"/>
        </p:xfrm>
        <a:graphic>
          <a:graphicData uri="http://schemas.openxmlformats.org/drawingml/2006/table">
            <a:tbl>
              <a:tblPr>
                <a:noFill/>
                <a:tableStyleId>{08090562-DF84-4FD7-AC36-20C3DAF36FD6}</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38" name="Google Shape;138;p8"/>
          <p:cNvSpPr txBox="1"/>
          <p:nvPr/>
        </p:nvSpPr>
        <p:spPr>
          <a:xfrm>
            <a:off x="459550" y="762000"/>
            <a:ext cx="3883800" cy="21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txBox="1"/>
          <p:nvPr/>
        </p:nvSpPr>
        <p:spPr>
          <a:xfrm>
            <a:off x="304800" y="2806750"/>
            <a:ext cx="7965000" cy="1884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US"/>
              <a:t>Loan Amount      - </a:t>
            </a:r>
            <a:r>
              <a:rPr lang="en-US" sz="1200">
                <a:solidFill>
                  <a:srgbClr val="741B47"/>
                </a:solidFill>
              </a:rPr>
              <a:t>Total amount of money borrowed by the customer. </a:t>
            </a:r>
            <a:endParaRPr sz="1200">
              <a:solidFill>
                <a:srgbClr val="741B47"/>
              </a:solidFill>
            </a:endParaRPr>
          </a:p>
          <a:p>
            <a:pPr indent="-317500" lvl="0" marL="457200" rtl="0" algn="l">
              <a:spcBef>
                <a:spcPts val="0"/>
              </a:spcBef>
              <a:spcAft>
                <a:spcPts val="0"/>
              </a:spcAft>
              <a:buSzPts val="1400"/>
              <a:buChar char="❖"/>
            </a:pPr>
            <a:r>
              <a:rPr lang="en-US"/>
              <a:t>Annual Income   - </a:t>
            </a:r>
            <a:r>
              <a:rPr lang="en-US" sz="1200">
                <a:solidFill>
                  <a:srgbClr val="741B47"/>
                </a:solidFill>
              </a:rPr>
              <a:t>Borrower's yearly income. </a:t>
            </a:r>
            <a:endParaRPr sz="1200">
              <a:solidFill>
                <a:srgbClr val="741B47"/>
              </a:solidFill>
            </a:endParaRPr>
          </a:p>
          <a:p>
            <a:pPr indent="-317500" lvl="0" marL="457200" rtl="0" algn="l">
              <a:spcBef>
                <a:spcPts val="0"/>
              </a:spcBef>
              <a:spcAft>
                <a:spcPts val="0"/>
              </a:spcAft>
              <a:buSzPts val="1400"/>
              <a:buChar char="❖"/>
            </a:pPr>
            <a:r>
              <a:rPr lang="en-US"/>
              <a:t>Grade                 - </a:t>
            </a:r>
            <a:r>
              <a:rPr lang="en-US" sz="1200">
                <a:solidFill>
                  <a:srgbClr val="741B47"/>
                </a:solidFill>
              </a:rPr>
              <a:t>Credit grade assigned based on the borrower's risk profile  </a:t>
            </a:r>
            <a:endParaRPr sz="1200">
              <a:solidFill>
                <a:srgbClr val="741B47"/>
              </a:solidFill>
            </a:endParaRPr>
          </a:p>
          <a:p>
            <a:pPr indent="-317500" lvl="0" marL="457200" rtl="0" algn="l">
              <a:spcBef>
                <a:spcPts val="0"/>
              </a:spcBef>
              <a:spcAft>
                <a:spcPts val="0"/>
              </a:spcAft>
              <a:buSzPts val="1400"/>
              <a:buChar char="❖"/>
            </a:pPr>
            <a:r>
              <a:rPr lang="en-US" sz="1200">
                <a:solidFill>
                  <a:srgbClr val="741B47"/>
                </a:solidFill>
              </a:rPr>
              <a:t> </a:t>
            </a:r>
            <a:r>
              <a:rPr lang="en-US"/>
              <a:t>Loan Purpose     - </a:t>
            </a:r>
            <a:r>
              <a:rPr lang="en-US" sz="1200">
                <a:solidFill>
                  <a:srgbClr val="741B47"/>
                </a:solidFill>
              </a:rPr>
              <a:t>The reason for taking the loan </a:t>
            </a:r>
            <a:endParaRPr sz="1200">
              <a:solidFill>
                <a:srgbClr val="741B47"/>
              </a:solidFill>
            </a:endParaRPr>
          </a:p>
          <a:p>
            <a:pPr indent="-317500" lvl="0" marL="457200" rtl="0" algn="l">
              <a:spcBef>
                <a:spcPts val="0"/>
              </a:spcBef>
              <a:spcAft>
                <a:spcPts val="0"/>
              </a:spcAft>
              <a:buSzPts val="1400"/>
              <a:buChar char="❖"/>
            </a:pPr>
            <a:r>
              <a:rPr lang="en-US"/>
              <a:t>Loan Status        - </a:t>
            </a:r>
            <a:r>
              <a:rPr lang="en-US" sz="1200">
                <a:solidFill>
                  <a:srgbClr val="741B47"/>
                </a:solidFill>
              </a:rPr>
              <a:t>Current status of the loan, such as Fully Paid, Current, or Charged Off. </a:t>
            </a:r>
            <a:endParaRPr sz="1200">
              <a:solidFill>
                <a:srgbClr val="741B47"/>
              </a:solidFill>
            </a:endParaRPr>
          </a:p>
          <a:p>
            <a:pPr indent="-317500" lvl="0" marL="457200" rtl="0" algn="l">
              <a:spcBef>
                <a:spcPts val="0"/>
              </a:spcBef>
              <a:spcAft>
                <a:spcPts val="0"/>
              </a:spcAft>
              <a:buSzPts val="1400"/>
              <a:buChar char="❖"/>
            </a:pPr>
            <a:r>
              <a:rPr lang="en-US"/>
              <a:t>Interest Rate         - </a:t>
            </a:r>
            <a:r>
              <a:rPr lang="en-US" sz="1200">
                <a:solidFill>
                  <a:srgbClr val="741B47"/>
                </a:solidFill>
              </a:rPr>
              <a:t>Percentage of interest charged on the loan. </a:t>
            </a:r>
            <a:endParaRPr sz="1200">
              <a:solidFill>
                <a:srgbClr val="741B47"/>
              </a:solidFill>
            </a:endParaRPr>
          </a:p>
          <a:p>
            <a:pPr indent="-317500" lvl="0" marL="457200" rtl="0" algn="l">
              <a:spcBef>
                <a:spcPts val="0"/>
              </a:spcBef>
              <a:spcAft>
                <a:spcPts val="0"/>
              </a:spcAft>
              <a:buSzPts val="1400"/>
              <a:buChar char="❖"/>
            </a:pPr>
            <a:r>
              <a:rPr lang="en-US"/>
              <a:t>Income Band (Created)  - </a:t>
            </a:r>
            <a:r>
              <a:rPr lang="en-US" sz="1200">
                <a:solidFill>
                  <a:srgbClr val="741B47"/>
                </a:solidFill>
              </a:rPr>
              <a:t>Groups borrowers into income categories (Low, Medium, High, Very High). </a:t>
            </a:r>
            <a:endParaRPr sz="1200">
              <a:solidFill>
                <a:srgbClr val="741B47"/>
              </a:solidFill>
            </a:endParaRPr>
          </a:p>
          <a:p>
            <a:pPr indent="-317500" lvl="0" marL="457200" rtl="0" algn="l">
              <a:spcBef>
                <a:spcPts val="0"/>
              </a:spcBef>
              <a:spcAft>
                <a:spcPts val="0"/>
              </a:spcAft>
              <a:buSzPts val="1400"/>
              <a:buChar char="❖"/>
            </a:pPr>
            <a:r>
              <a:rPr lang="en-US"/>
              <a:t>Default Flag (Created)  - </a:t>
            </a:r>
            <a:r>
              <a:rPr lang="en-US" sz="1200">
                <a:solidFill>
                  <a:srgbClr val="741B47"/>
                </a:solidFill>
              </a:rPr>
              <a:t>Indicates whether a loan has defaulted (1 = Default, 0 = No Default).</a:t>
            </a:r>
            <a:endParaRPr sz="1200">
              <a:solidFill>
                <a:srgbClr val="741B47"/>
              </a:solidFill>
            </a:endParaRPr>
          </a:p>
          <a:p>
            <a:pPr indent="0" lvl="0" marL="457200" rtl="0" algn="l">
              <a:spcBef>
                <a:spcPts val="0"/>
              </a:spcBef>
              <a:spcAft>
                <a:spcPts val="0"/>
              </a:spcAft>
              <a:buNone/>
            </a:pPr>
            <a:r>
              <a:t/>
            </a:r>
            <a:endParaRPr/>
          </a:p>
        </p:txBody>
      </p:sp>
      <p:graphicFrame>
        <p:nvGraphicFramePr>
          <p:cNvPr id="140" name="Google Shape;140;p8"/>
          <p:cNvGraphicFramePr/>
          <p:nvPr/>
        </p:nvGraphicFramePr>
        <p:xfrm>
          <a:off x="152400" y="152400"/>
          <a:ext cx="3000000" cy="3000000"/>
        </p:xfrm>
        <a:graphic>
          <a:graphicData uri="http://schemas.openxmlformats.org/drawingml/2006/table">
            <a:tbl>
              <a:tblPr>
                <a:noFill/>
                <a:tableStyleId>{08090562-DF84-4FD7-AC36-20C3DAF36FD6}</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1C75"/>
        </a:solidFill>
      </p:bgPr>
    </p:bg>
    <p:spTree>
      <p:nvGrpSpPr>
        <p:cNvPr id="145" name="Shape 145"/>
        <p:cNvGrpSpPr/>
        <p:nvPr/>
      </p:nvGrpSpPr>
      <p:grpSpPr>
        <a:xfrm>
          <a:off x="0" y="0"/>
          <a:ext cx="0" cy="0"/>
          <a:chOff x="0" y="0"/>
          <a:chExt cx="0" cy="0"/>
        </a:xfrm>
      </p:grpSpPr>
      <p:sp>
        <p:nvSpPr>
          <p:cNvPr id="146" name="Google Shape;146;p9"/>
          <p:cNvSpPr/>
          <p:nvPr/>
        </p:nvSpPr>
        <p:spPr>
          <a:xfrm>
            <a:off x="0" y="1920240"/>
            <a:ext cx="164592" cy="1188720"/>
          </a:xfrm>
          <a:prstGeom prst="rect">
            <a:avLst/>
          </a:prstGeom>
          <a:solidFill>
            <a:srgbClr val="2563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9"/>
          <p:cNvSpPr/>
          <p:nvPr/>
        </p:nvSpPr>
        <p:spPr>
          <a:xfrm>
            <a:off x="457200" y="1828800"/>
            <a:ext cx="8229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mbria"/>
              <a:buNone/>
            </a:pPr>
            <a:r>
              <a:rPr b="1" lang="en-US" sz="3600">
                <a:solidFill>
                  <a:srgbClr val="FFFFFF"/>
                </a:solidFill>
                <a:latin typeface="Cambria"/>
                <a:ea typeface="Cambria"/>
                <a:cs typeface="Cambria"/>
                <a:sym typeface="Cambria"/>
              </a:rPr>
              <a:t>04  Dashboard Walkthrough</a:t>
            </a:r>
            <a:endParaRPr sz="3600">
              <a:solidFill>
                <a:schemeClr val="dk1"/>
              </a:solidFill>
              <a:latin typeface="Calibri"/>
              <a:ea typeface="Calibri"/>
              <a:cs typeface="Calibri"/>
              <a:sym typeface="Calibri"/>
            </a:endParaRPr>
          </a:p>
        </p:txBody>
      </p:sp>
      <p:sp>
        <p:nvSpPr>
          <p:cNvPr id="148" name="Google Shape;148;p9"/>
          <p:cNvSpPr/>
          <p:nvPr/>
        </p:nvSpPr>
        <p:spPr>
          <a:xfrm>
            <a:off x="457200" y="269748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FD"/>
              </a:buClr>
              <a:buSzPts val="1600"/>
              <a:buFont typeface="Calibri"/>
              <a:buNone/>
            </a:pPr>
            <a:r>
              <a:rPr lang="en-US" sz="1600">
                <a:solidFill>
                  <a:srgbClr val="93C5FD"/>
                </a:solidFill>
                <a:latin typeface="Calibri"/>
                <a:ea typeface="Calibri"/>
                <a:cs typeface="Calibri"/>
                <a:sym typeface="Calibri"/>
              </a:rPr>
              <a:t>Pages, visuals, and interactivity</a:t>
            </a:r>
            <a:endParaRPr sz="1600">
              <a:solidFill>
                <a:schemeClr val="dk1"/>
              </a:solidFill>
              <a:latin typeface="Calibri"/>
              <a:ea typeface="Calibri"/>
              <a:cs typeface="Calibri"/>
              <a:sym typeface="Calibri"/>
            </a:endParaRPr>
          </a:p>
        </p:txBody>
      </p:sp>
      <p:sp>
        <p:nvSpPr>
          <p:cNvPr id="149" name="Google Shape;149;p9"/>
          <p:cNvSpPr/>
          <p:nvPr/>
        </p:nvSpPr>
        <p:spPr>
          <a:xfrm>
            <a:off x="8046720" y="48006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3C5FD"/>
              </a:buClr>
              <a:buSzPts val="900"/>
              <a:buFont typeface="Calibri"/>
              <a:buNone/>
            </a:pPr>
            <a:r>
              <a:rPr lang="en-US" sz="900">
                <a:solidFill>
                  <a:srgbClr val="93C5FD"/>
                </a:solidFill>
                <a:latin typeface="Calibri"/>
                <a:ea typeface="Calibri"/>
                <a:cs typeface="Calibri"/>
                <a:sym typeface="Calibri"/>
              </a:rPr>
              <a:t>11 / 14</a:t>
            </a:r>
            <a:endParaRPr sz="900">
              <a:solidFill>
                <a:schemeClr val="dk1"/>
              </a:solidFill>
              <a:latin typeface="Calibri"/>
              <a:ea typeface="Calibri"/>
              <a:cs typeface="Calibri"/>
              <a:sym typeface="Calibri"/>
            </a:endParaRPr>
          </a:p>
        </p:txBody>
      </p:sp>
      <p:pic>
        <p:nvPicPr>
          <p:cNvPr id="150" name="Google Shape;150;p9"/>
          <p:cNvPicPr preferRelativeResize="0"/>
          <p:nvPr/>
        </p:nvPicPr>
        <p:blipFill rotWithShape="1">
          <a:blip r:embed="rId3">
            <a:alphaModFix/>
          </a:blip>
          <a:srcRect b="0" l="0" r="0" t="0"/>
          <a:stretch/>
        </p:blipFill>
        <p:spPr>
          <a:xfrm>
            <a:off x="82296" y="48627"/>
            <a:ext cx="2151088" cy="4513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p:nvPr/>
        </p:nvSpPr>
        <p:spPr>
          <a:xfrm>
            <a:off x="0" y="0"/>
            <a:ext cx="9144000" cy="502920"/>
          </a:xfrm>
          <a:prstGeom prst="rect">
            <a:avLst/>
          </a:prstGeom>
          <a:solidFill>
            <a:srgbClr val="351C7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10"/>
          <p:cNvSpPr/>
          <p:nvPr/>
        </p:nvSpPr>
        <p:spPr>
          <a:xfrm>
            <a:off x="457200" y="59436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6B"/>
              </a:buClr>
              <a:buSzPts val="2400"/>
              <a:buFont typeface="Cambria"/>
              <a:buNone/>
            </a:pPr>
            <a:r>
              <a:rPr b="1" lang="en-US" sz="2400">
                <a:solidFill>
                  <a:srgbClr val="1B3A6B"/>
                </a:solidFill>
                <a:latin typeface="Cambria"/>
                <a:ea typeface="Cambria"/>
                <a:cs typeface="Cambria"/>
                <a:sym typeface="Cambria"/>
              </a:rPr>
              <a:t>Dashboard — Overview</a:t>
            </a:r>
            <a:endParaRPr sz="2400">
              <a:solidFill>
                <a:schemeClr val="dk1"/>
              </a:solidFill>
              <a:latin typeface="Calibri"/>
              <a:ea typeface="Calibri"/>
              <a:cs typeface="Calibri"/>
              <a:sym typeface="Calibri"/>
            </a:endParaRPr>
          </a:p>
        </p:txBody>
      </p:sp>
      <p:sp>
        <p:nvSpPr>
          <p:cNvPr id="158" name="Google Shape;158;p10"/>
          <p:cNvSpPr/>
          <p:nvPr/>
        </p:nvSpPr>
        <p:spPr>
          <a:xfrm>
            <a:off x="365760" y="1097280"/>
            <a:ext cx="5303520" cy="3291840"/>
          </a:xfrm>
          <a:prstGeom prst="roundRect">
            <a:avLst>
              <a:gd fmla="val 2222" name="adj"/>
            </a:avLst>
          </a:prstGeom>
          <a:solidFill>
            <a:srgbClr val="EFF6FF"/>
          </a:solidFill>
          <a:ln cap="flat" cmpd="sng" w="19050">
            <a:solidFill>
              <a:srgbClr val="DBEAF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10"/>
          <p:cNvSpPr/>
          <p:nvPr/>
        </p:nvSpPr>
        <p:spPr>
          <a:xfrm>
            <a:off x="365760" y="2560320"/>
            <a:ext cx="53035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563EB"/>
              </a:buClr>
              <a:buSzPts val="1100"/>
              <a:buFont typeface="Calibri"/>
              <a:buNone/>
            </a:pPr>
            <a:r>
              <a:rPr i="1" lang="en-US" sz="1100">
                <a:solidFill>
                  <a:srgbClr val="2563EB"/>
                </a:solidFill>
                <a:latin typeface="Calibri"/>
                <a:ea typeface="Calibri"/>
                <a:cs typeface="Calibri"/>
                <a:sym typeface="Calibri"/>
              </a:rPr>
              <a:t>[ Screenshot — Overview Page ]</a:t>
            </a:r>
            <a:endParaRPr sz="1100">
              <a:solidFill>
                <a:schemeClr val="dk1"/>
              </a:solidFill>
              <a:latin typeface="Calibri"/>
              <a:ea typeface="Calibri"/>
              <a:cs typeface="Calibri"/>
              <a:sym typeface="Calibri"/>
            </a:endParaRPr>
          </a:p>
        </p:txBody>
      </p:sp>
      <p:sp>
        <p:nvSpPr>
          <p:cNvPr id="160" name="Google Shape;160;p10"/>
          <p:cNvSpPr/>
          <p:nvPr/>
        </p:nvSpPr>
        <p:spPr>
          <a:xfrm>
            <a:off x="5852160" y="630930"/>
            <a:ext cx="31089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6B"/>
              </a:buClr>
              <a:buSzPts val="1300"/>
              <a:buFont typeface="Calibri"/>
              <a:buNone/>
            </a:pPr>
            <a:r>
              <a:rPr b="1" lang="en-US" sz="1300">
                <a:solidFill>
                  <a:srgbClr val="1B3A6B"/>
                </a:solidFill>
                <a:latin typeface="Calibri"/>
                <a:ea typeface="Calibri"/>
                <a:cs typeface="Calibri"/>
                <a:sym typeface="Calibri"/>
              </a:rPr>
              <a:t>Visuals on this page</a:t>
            </a:r>
            <a:endParaRPr sz="1300">
              <a:solidFill>
                <a:schemeClr val="dk1"/>
              </a:solidFill>
              <a:latin typeface="Calibri"/>
              <a:ea typeface="Calibri"/>
              <a:cs typeface="Calibri"/>
              <a:sym typeface="Calibri"/>
            </a:endParaRPr>
          </a:p>
        </p:txBody>
      </p:sp>
      <p:grpSp>
        <p:nvGrpSpPr>
          <p:cNvPr id="161" name="Google Shape;161;p10"/>
          <p:cNvGrpSpPr/>
          <p:nvPr/>
        </p:nvGrpSpPr>
        <p:grpSpPr>
          <a:xfrm>
            <a:off x="6035060" y="921338"/>
            <a:ext cx="2552678" cy="982800"/>
            <a:chOff x="6035060" y="921338"/>
            <a:chExt cx="2552678" cy="982800"/>
          </a:xfrm>
        </p:grpSpPr>
        <p:sp>
          <p:nvSpPr>
            <p:cNvPr id="162" name="Google Shape;162;p10"/>
            <p:cNvSpPr/>
            <p:nvPr/>
          </p:nvSpPr>
          <p:spPr>
            <a:xfrm>
              <a:off x="6035060" y="1042310"/>
              <a:ext cx="183000" cy="183000"/>
            </a:xfrm>
            <a:prstGeom prst="ellipse">
              <a:avLst/>
            </a:prstGeom>
            <a:solidFill>
              <a:srgbClr val="2563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10"/>
            <p:cNvSpPr/>
            <p:nvPr/>
          </p:nvSpPr>
          <p:spPr>
            <a:xfrm>
              <a:off x="6225538" y="921338"/>
              <a:ext cx="2362200" cy="98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00"/>
                <a:buFont typeface="Calibri"/>
                <a:buNone/>
              </a:pPr>
              <a:r>
                <a:rPr b="1" lang="en-US" sz="1100">
                  <a:solidFill>
                    <a:srgbClr val="1E293B"/>
                  </a:solidFill>
                  <a:latin typeface="Calibri"/>
                  <a:ea typeface="Calibri"/>
                  <a:cs typeface="Calibri"/>
                  <a:sym typeface="Calibri"/>
                </a:rPr>
                <a:t>KPI Cards</a:t>
              </a:r>
              <a:r>
                <a:rPr b="1" lang="en-US" sz="1100">
                  <a:solidFill>
                    <a:srgbClr val="1E293B"/>
                  </a:solidFill>
                  <a:latin typeface="Calibri"/>
                  <a:ea typeface="Calibri"/>
                  <a:cs typeface="Calibri"/>
                  <a:sym typeface="Calibri"/>
                </a:rPr>
                <a:t> :</a:t>
              </a:r>
              <a:r>
                <a:rPr lang="en-US" sz="800">
                  <a:solidFill>
                    <a:srgbClr val="1E293B"/>
                  </a:solidFill>
                  <a:latin typeface="Calibri"/>
                  <a:ea typeface="Calibri"/>
                  <a:cs typeface="Calibri"/>
                  <a:sym typeface="Calibri"/>
                </a:rPr>
                <a:t> </a:t>
              </a:r>
              <a:r>
                <a:rPr lang="en-US" sz="1100">
                  <a:solidFill>
                    <a:srgbClr val="1E293B"/>
                  </a:solidFill>
                  <a:latin typeface="Calibri"/>
                  <a:ea typeface="Calibri"/>
                  <a:cs typeface="Calibri"/>
                  <a:sym typeface="Calibri"/>
                </a:rPr>
                <a:t>-</a:t>
              </a:r>
              <a:r>
                <a:rPr lang="en-US" sz="800">
                  <a:solidFill>
                    <a:srgbClr val="1E293B"/>
                  </a:solidFill>
                  <a:latin typeface="Calibri"/>
                  <a:ea typeface="Calibri"/>
                  <a:cs typeface="Calibri"/>
                  <a:sym typeface="Calibri"/>
                </a:rPr>
                <a:t>  </a:t>
              </a:r>
              <a:r>
                <a:rPr lang="en-US" sz="1100">
                  <a:solidFill>
                    <a:srgbClr val="1E293B"/>
                  </a:solidFill>
                  <a:latin typeface="Calibri"/>
                  <a:ea typeface="Calibri"/>
                  <a:cs typeface="Calibri"/>
                  <a:sym typeface="Calibri"/>
                </a:rPr>
                <a:t>T</a:t>
              </a:r>
              <a:r>
                <a:rPr lang="en-US" sz="1100">
                  <a:solidFill>
                    <a:schemeClr val="dk1"/>
                  </a:solidFill>
                </a:rPr>
                <a:t>otal Loans</a:t>
              </a:r>
              <a:endParaRPr sz="1100">
                <a:solidFill>
                  <a:schemeClr val="dk1"/>
                </a:solidFill>
              </a:endParaRPr>
            </a:p>
            <a:p>
              <a:pPr indent="0" lvl="0" marL="0" rtl="0" algn="l">
                <a:spcBef>
                  <a:spcPts val="0"/>
                </a:spcBef>
                <a:spcAft>
                  <a:spcPts val="0"/>
                </a:spcAft>
                <a:buClr>
                  <a:schemeClr val="dk1"/>
                </a:buClr>
                <a:buSzPts val="1100"/>
                <a:buFont typeface="Arial"/>
                <a:buNone/>
              </a:pPr>
              <a:r>
                <a:rPr lang="en-US" sz="1100">
                  <a:solidFill>
                    <a:schemeClr val="dk1"/>
                  </a:solidFill>
                </a:rPr>
                <a:t>                - </a:t>
              </a:r>
              <a:r>
                <a:rPr lang="en-US" sz="1100">
                  <a:solidFill>
                    <a:schemeClr val="dk1"/>
                  </a:solidFill>
                </a:rPr>
                <a:t>Total Loan Amount</a:t>
              </a:r>
              <a:endParaRPr sz="1100">
                <a:solidFill>
                  <a:schemeClr val="dk1"/>
                </a:solidFill>
              </a:endParaRPr>
            </a:p>
            <a:p>
              <a:pPr indent="0" lvl="0" marL="0" rtl="0" algn="l">
                <a:spcBef>
                  <a:spcPts val="0"/>
                </a:spcBef>
                <a:spcAft>
                  <a:spcPts val="0"/>
                </a:spcAft>
                <a:buClr>
                  <a:schemeClr val="dk1"/>
                </a:buClr>
                <a:buSzPts val="1100"/>
                <a:buFont typeface="Arial"/>
                <a:buNone/>
              </a:pPr>
              <a:r>
                <a:rPr lang="en-US" sz="1100">
                  <a:solidFill>
                    <a:schemeClr val="dk1"/>
                  </a:solidFill>
                </a:rPr>
                <a:t>                - Total Defaults.</a:t>
              </a:r>
              <a:endParaRPr sz="1100">
                <a:solidFill>
                  <a:schemeClr val="dk1"/>
                </a:solidFill>
              </a:endParaRPr>
            </a:p>
            <a:p>
              <a:pPr indent="0" lvl="0" marL="0" rtl="0" algn="l">
                <a:spcBef>
                  <a:spcPts val="0"/>
                </a:spcBef>
                <a:spcAft>
                  <a:spcPts val="0"/>
                </a:spcAft>
                <a:buClr>
                  <a:schemeClr val="dk1"/>
                </a:buClr>
                <a:buSzPts val="1100"/>
                <a:buFont typeface="Arial"/>
                <a:buNone/>
              </a:pPr>
              <a:r>
                <a:rPr lang="en-US" sz="1100">
                  <a:solidFill>
                    <a:schemeClr val="dk1"/>
                  </a:solidFill>
                </a:rPr>
                <a:t>                - Default Rate</a:t>
              </a:r>
              <a:endParaRPr sz="1100">
                <a:solidFill>
                  <a:schemeClr val="dk1"/>
                </a:solidFill>
              </a:endParaRPr>
            </a:p>
            <a:p>
              <a:pPr indent="0" lvl="0" marL="0" marR="0" rtl="0" algn="l">
                <a:spcBef>
                  <a:spcPts val="0"/>
                </a:spcBef>
                <a:spcAft>
                  <a:spcPts val="0"/>
                </a:spcAft>
                <a:buClr>
                  <a:srgbClr val="1E293B"/>
                </a:buClr>
                <a:buSzPts val="1100"/>
                <a:buFont typeface="Calibri"/>
                <a:buNone/>
              </a:pPr>
              <a:r>
                <a:t/>
              </a:r>
              <a:endParaRPr sz="800">
                <a:solidFill>
                  <a:srgbClr val="1E293B"/>
                </a:solidFill>
                <a:latin typeface="Calibri"/>
                <a:ea typeface="Calibri"/>
                <a:cs typeface="Calibri"/>
                <a:sym typeface="Calibri"/>
              </a:endParaRPr>
            </a:p>
          </p:txBody>
        </p:sp>
      </p:grpSp>
      <p:sp>
        <p:nvSpPr>
          <p:cNvPr id="164" name="Google Shape;164;p10"/>
          <p:cNvSpPr/>
          <p:nvPr/>
        </p:nvSpPr>
        <p:spPr>
          <a:xfrm>
            <a:off x="5852148" y="3828538"/>
            <a:ext cx="31089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200"/>
              <a:buFont typeface="Calibri"/>
              <a:buNone/>
            </a:pPr>
            <a:r>
              <a:rPr b="1" lang="en-US">
                <a:solidFill>
                  <a:srgbClr val="0D9488"/>
                </a:solidFill>
                <a:latin typeface="Calibri"/>
                <a:ea typeface="Calibri"/>
                <a:cs typeface="Calibri"/>
                <a:sym typeface="Calibri"/>
              </a:rPr>
              <a:t>                                </a:t>
            </a:r>
            <a:r>
              <a:rPr b="1" lang="en-US">
                <a:solidFill>
                  <a:srgbClr val="0D9488"/>
                </a:solidFill>
                <a:latin typeface="Calibri"/>
                <a:ea typeface="Calibri"/>
                <a:cs typeface="Calibri"/>
                <a:sym typeface="Calibri"/>
              </a:rPr>
              <a:t>Key Insight</a:t>
            </a:r>
            <a:endParaRPr b="1">
              <a:solidFill>
                <a:schemeClr val="dk1"/>
              </a:solidFill>
              <a:latin typeface="Calibri"/>
              <a:ea typeface="Calibri"/>
              <a:cs typeface="Calibri"/>
              <a:sym typeface="Calibri"/>
            </a:endParaRPr>
          </a:p>
        </p:txBody>
      </p:sp>
      <p:sp>
        <p:nvSpPr>
          <p:cNvPr id="165" name="Google Shape;165;p10"/>
          <p:cNvSpPr/>
          <p:nvPr/>
        </p:nvSpPr>
        <p:spPr>
          <a:xfrm>
            <a:off x="6073985" y="4156158"/>
            <a:ext cx="31089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050"/>
              <a:buFont typeface="Calibri"/>
              <a:buNone/>
            </a:pPr>
            <a:r>
              <a:rPr i="1" lang="en-US" sz="1150">
                <a:solidFill>
                  <a:srgbClr val="1E293B"/>
                </a:solidFill>
                <a:latin typeface="Calibri"/>
                <a:ea typeface="Calibri"/>
                <a:cs typeface="Calibri"/>
                <a:sym typeface="Calibri"/>
              </a:rPr>
              <a:t>An interactive Power BI dashboard designed to track loan performance, monitor default risk, and analyze borrower trends for effective risk management. </a:t>
            </a:r>
            <a:endParaRPr sz="1150">
              <a:solidFill>
                <a:schemeClr val="dk1"/>
              </a:solidFill>
              <a:latin typeface="Calibri"/>
              <a:ea typeface="Calibri"/>
              <a:cs typeface="Calibri"/>
              <a:sym typeface="Calibri"/>
            </a:endParaRPr>
          </a:p>
        </p:txBody>
      </p:sp>
      <p:sp>
        <p:nvSpPr>
          <p:cNvPr id="166" name="Google Shape;166;p10"/>
          <p:cNvSpPr/>
          <p:nvPr/>
        </p:nvSpPr>
        <p:spPr>
          <a:xfrm>
            <a:off x="8046720" y="48006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12 / 14</a:t>
            </a:r>
            <a:endParaRPr sz="900">
              <a:solidFill>
                <a:schemeClr val="dk1"/>
              </a:solidFill>
              <a:latin typeface="Calibri"/>
              <a:ea typeface="Calibri"/>
              <a:cs typeface="Calibri"/>
              <a:sym typeface="Calibri"/>
            </a:endParaRPr>
          </a:p>
        </p:txBody>
      </p:sp>
      <p:pic>
        <p:nvPicPr>
          <p:cNvPr id="167" name="Google Shape;167;p10"/>
          <p:cNvPicPr preferRelativeResize="0"/>
          <p:nvPr/>
        </p:nvPicPr>
        <p:blipFill rotWithShape="1">
          <a:blip r:embed="rId3">
            <a:alphaModFix/>
          </a:blip>
          <a:srcRect b="0" l="0" r="0" t="0"/>
          <a:stretch/>
        </p:blipFill>
        <p:spPr>
          <a:xfrm>
            <a:off x="0" y="8721"/>
            <a:ext cx="2151088" cy="451386"/>
          </a:xfrm>
          <a:prstGeom prst="rect">
            <a:avLst/>
          </a:prstGeom>
          <a:noFill/>
          <a:ln>
            <a:noFill/>
          </a:ln>
        </p:spPr>
      </p:pic>
      <p:pic>
        <p:nvPicPr>
          <p:cNvPr id="168" name="Google Shape;168;p10"/>
          <p:cNvPicPr preferRelativeResize="0"/>
          <p:nvPr/>
        </p:nvPicPr>
        <p:blipFill>
          <a:blip r:embed="rId4">
            <a:alphaModFix/>
          </a:blip>
          <a:stretch>
            <a:fillRect/>
          </a:stretch>
        </p:blipFill>
        <p:spPr>
          <a:xfrm>
            <a:off x="0" y="1142975"/>
            <a:ext cx="5792475" cy="3931950"/>
          </a:xfrm>
          <a:prstGeom prst="rect">
            <a:avLst/>
          </a:prstGeom>
          <a:solidFill>
            <a:srgbClr val="EFF6FF"/>
          </a:solidFill>
          <a:ln cap="flat" cmpd="sng" w="19050">
            <a:solidFill>
              <a:srgbClr val="DBEAFE"/>
            </a:solidFill>
            <a:prstDash val="dash"/>
            <a:round/>
            <a:headEnd len="sm" w="sm" type="none"/>
            <a:tailEnd len="sm" w="sm" type="none"/>
          </a:ln>
        </p:spPr>
      </p:pic>
      <p:grpSp>
        <p:nvGrpSpPr>
          <p:cNvPr id="169" name="Google Shape;169;p10"/>
          <p:cNvGrpSpPr/>
          <p:nvPr/>
        </p:nvGrpSpPr>
        <p:grpSpPr>
          <a:xfrm>
            <a:off x="6035060" y="1681513"/>
            <a:ext cx="3047065" cy="1245600"/>
            <a:chOff x="6035060" y="1681513"/>
            <a:chExt cx="3047065" cy="1245600"/>
          </a:xfrm>
        </p:grpSpPr>
        <p:sp>
          <p:nvSpPr>
            <p:cNvPr id="170" name="Google Shape;170;p10"/>
            <p:cNvSpPr/>
            <p:nvPr/>
          </p:nvSpPr>
          <p:spPr>
            <a:xfrm>
              <a:off x="6285225" y="1681513"/>
              <a:ext cx="2796900" cy="1245600"/>
            </a:xfrm>
            <a:prstGeom prst="rect">
              <a:avLst/>
            </a:prstGeom>
            <a:noFill/>
            <a:ln>
              <a:noFill/>
            </a:ln>
          </p:spPr>
          <p:txBody>
            <a:bodyPr anchorCtr="0" anchor="ctr" bIns="45700" lIns="0" spcFirstLastPara="1" rIns="0" wrap="square" tIns="45700">
              <a:noAutofit/>
            </a:bodyPr>
            <a:lstStyle/>
            <a:p>
              <a:pPr indent="0" lvl="0" marL="0" rtl="0" algn="l">
                <a:lnSpc>
                  <a:spcPct val="100000"/>
                </a:lnSpc>
                <a:spcBef>
                  <a:spcPts val="1400"/>
                </a:spcBef>
                <a:spcAft>
                  <a:spcPts val="0"/>
                </a:spcAft>
                <a:buClr>
                  <a:schemeClr val="dk1"/>
                </a:buClr>
                <a:buSzPts val="1100"/>
                <a:buFont typeface="Arial"/>
                <a:buNone/>
              </a:pPr>
              <a:r>
                <a:rPr b="1" lang="en-US" sz="1100">
                  <a:solidFill>
                    <a:schemeClr val="dk1"/>
                  </a:solidFill>
                </a:rPr>
                <a:t>Income Band Distribution: </a:t>
              </a:r>
              <a:r>
                <a:rPr lang="en-US" sz="1100">
                  <a:solidFill>
                    <a:schemeClr val="dk1"/>
                  </a:solidFill>
                </a:rPr>
                <a:t>Shows how borrowers are distributed across different income groups. (Donut Chart)</a:t>
              </a:r>
              <a:endParaRPr sz="1100">
                <a:solidFill>
                  <a:schemeClr val="dk1"/>
                </a:solidFill>
              </a:endParaRPr>
            </a:p>
            <a:p>
              <a:pPr indent="0" lvl="0" marL="0" rtl="0" algn="l">
                <a:lnSpc>
                  <a:spcPct val="100000"/>
                </a:lnSpc>
                <a:spcBef>
                  <a:spcPts val="1400"/>
                </a:spcBef>
                <a:spcAft>
                  <a:spcPts val="0"/>
                </a:spcAft>
                <a:buClr>
                  <a:schemeClr val="dk1"/>
                </a:buClr>
                <a:buSzPts val="1100"/>
                <a:buFont typeface="Arial"/>
                <a:buNone/>
              </a:pPr>
              <a:r>
                <a:t/>
              </a:r>
              <a:endParaRPr sz="1100">
                <a:solidFill>
                  <a:schemeClr val="dk1"/>
                </a:solidFill>
              </a:endParaRPr>
            </a:p>
            <a:p>
              <a:pPr indent="0" lvl="0" marL="0" marR="0" rtl="0" algn="l">
                <a:spcBef>
                  <a:spcPts val="400"/>
                </a:spcBef>
                <a:spcAft>
                  <a:spcPts val="0"/>
                </a:spcAft>
                <a:buClr>
                  <a:srgbClr val="1E293B"/>
                </a:buClr>
                <a:buSzPts val="1100"/>
                <a:buFont typeface="Calibri"/>
                <a:buNone/>
              </a:pPr>
              <a:r>
                <a:t/>
              </a:r>
              <a:endParaRPr sz="300">
                <a:solidFill>
                  <a:srgbClr val="1E293B"/>
                </a:solidFill>
                <a:latin typeface="Calibri"/>
                <a:ea typeface="Calibri"/>
                <a:cs typeface="Calibri"/>
                <a:sym typeface="Calibri"/>
              </a:endParaRPr>
            </a:p>
          </p:txBody>
        </p:sp>
        <p:sp>
          <p:nvSpPr>
            <p:cNvPr id="171" name="Google Shape;171;p10"/>
            <p:cNvSpPr/>
            <p:nvPr/>
          </p:nvSpPr>
          <p:spPr>
            <a:xfrm>
              <a:off x="6035060" y="1904160"/>
              <a:ext cx="183000" cy="183000"/>
            </a:xfrm>
            <a:prstGeom prst="ellipse">
              <a:avLst/>
            </a:prstGeom>
            <a:solidFill>
              <a:srgbClr val="2563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72" name="Google Shape;172;p10"/>
          <p:cNvGrpSpPr/>
          <p:nvPr/>
        </p:nvGrpSpPr>
        <p:grpSpPr>
          <a:xfrm>
            <a:off x="6073986" y="2431100"/>
            <a:ext cx="2969239" cy="699600"/>
            <a:chOff x="6035060" y="2894075"/>
            <a:chExt cx="3240112" cy="699600"/>
          </a:xfrm>
        </p:grpSpPr>
        <p:sp>
          <p:nvSpPr>
            <p:cNvPr id="173" name="Google Shape;173;p10"/>
            <p:cNvSpPr txBox="1"/>
            <p:nvPr/>
          </p:nvSpPr>
          <p:spPr>
            <a:xfrm>
              <a:off x="6166272" y="2894075"/>
              <a:ext cx="3108900" cy="69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US" sz="1100">
                  <a:solidFill>
                    <a:schemeClr val="dk1"/>
                  </a:solidFill>
                </a:rPr>
                <a:t>Purpose of Loan: </a:t>
              </a:r>
              <a:r>
                <a:rPr lang="en-US" sz="1100">
                  <a:solidFill>
                    <a:schemeClr val="dk1"/>
                  </a:solidFill>
                </a:rPr>
                <a:t>Shows the most common reasons for taking loans.(Clustered bar chart)</a:t>
              </a:r>
              <a:endParaRPr sz="1100">
                <a:solidFill>
                  <a:schemeClr val="dk1"/>
                </a:solidFill>
              </a:endParaRPr>
            </a:p>
            <a:p>
              <a:pPr indent="0" lvl="0" marL="0" rtl="0" algn="l">
                <a:spcBef>
                  <a:spcPts val="400"/>
                </a:spcBef>
                <a:spcAft>
                  <a:spcPts val="0"/>
                </a:spcAft>
                <a:buNone/>
              </a:pPr>
              <a:r>
                <a:t/>
              </a:r>
              <a:endParaRPr/>
            </a:p>
          </p:txBody>
        </p:sp>
        <p:sp>
          <p:nvSpPr>
            <p:cNvPr id="174" name="Google Shape;174;p10"/>
            <p:cNvSpPr/>
            <p:nvPr/>
          </p:nvSpPr>
          <p:spPr>
            <a:xfrm>
              <a:off x="6035060" y="3101748"/>
              <a:ext cx="183000" cy="183000"/>
            </a:xfrm>
            <a:prstGeom prst="ellipse">
              <a:avLst/>
            </a:prstGeom>
            <a:solidFill>
              <a:srgbClr val="2563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75" name="Google Shape;175;p10"/>
          <p:cNvGrpSpPr/>
          <p:nvPr/>
        </p:nvGrpSpPr>
        <p:grpSpPr>
          <a:xfrm>
            <a:off x="6035061" y="3075562"/>
            <a:ext cx="2931877" cy="699600"/>
            <a:chOff x="6035061" y="3075562"/>
            <a:chExt cx="2931877" cy="699600"/>
          </a:xfrm>
        </p:grpSpPr>
        <p:sp>
          <p:nvSpPr>
            <p:cNvPr id="176" name="Google Shape;176;p10"/>
            <p:cNvSpPr txBox="1"/>
            <p:nvPr/>
          </p:nvSpPr>
          <p:spPr>
            <a:xfrm>
              <a:off x="6150238" y="3075562"/>
              <a:ext cx="2816700" cy="69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US" sz="1100">
                  <a:solidFill>
                    <a:schemeClr val="dk1"/>
                  </a:solidFill>
                </a:rPr>
                <a:t>F</a:t>
              </a:r>
              <a:r>
                <a:rPr b="1" lang="en-US" sz="1100">
                  <a:solidFill>
                    <a:schemeClr val="dk1"/>
                  </a:solidFill>
                </a:rPr>
                <a:t>inancial Overview:</a:t>
              </a:r>
              <a:r>
                <a:rPr lang="en-US" sz="1100">
                  <a:solidFill>
                    <a:schemeClr val="dk1"/>
                  </a:solidFill>
                </a:rPr>
                <a:t>Compares Annual Income, Loan Amount, Paid Interest, and Tax Liens across different income bands.</a:t>
              </a:r>
              <a:endParaRPr sz="1100">
                <a:solidFill>
                  <a:schemeClr val="dk1"/>
                </a:solidFill>
              </a:endParaRPr>
            </a:p>
            <a:p>
              <a:pPr indent="0" lvl="0" marL="0" rtl="0" algn="l">
                <a:spcBef>
                  <a:spcPts val="400"/>
                </a:spcBef>
                <a:spcAft>
                  <a:spcPts val="0"/>
                </a:spcAft>
                <a:buNone/>
              </a:pPr>
              <a:r>
                <a:t/>
              </a:r>
              <a:endParaRPr/>
            </a:p>
          </p:txBody>
        </p:sp>
        <p:sp>
          <p:nvSpPr>
            <p:cNvPr id="177" name="Google Shape;177;p10"/>
            <p:cNvSpPr/>
            <p:nvPr/>
          </p:nvSpPr>
          <p:spPr>
            <a:xfrm>
              <a:off x="6035061" y="3212448"/>
              <a:ext cx="167700" cy="183000"/>
            </a:xfrm>
            <a:prstGeom prst="ellipse">
              <a:avLst/>
            </a:prstGeom>
            <a:solidFill>
              <a:srgbClr val="2563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p:nvPr/>
        </p:nvSpPr>
        <p:spPr>
          <a:xfrm>
            <a:off x="0" y="0"/>
            <a:ext cx="9144000" cy="502920"/>
          </a:xfrm>
          <a:prstGeom prst="rect">
            <a:avLst/>
          </a:prstGeom>
          <a:solidFill>
            <a:srgbClr val="351C7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11"/>
          <p:cNvSpPr/>
          <p:nvPr/>
        </p:nvSpPr>
        <p:spPr>
          <a:xfrm>
            <a:off x="457200" y="59436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6B"/>
              </a:buClr>
              <a:buSzPts val="2600"/>
              <a:buFont typeface="Cambria"/>
              <a:buNone/>
            </a:pPr>
            <a:r>
              <a:rPr b="1" lang="en-US" sz="2600">
                <a:solidFill>
                  <a:srgbClr val="1B3A6B"/>
                </a:solidFill>
                <a:latin typeface="Cambria"/>
                <a:ea typeface="Cambria"/>
                <a:cs typeface="Cambria"/>
                <a:sym typeface="Cambria"/>
              </a:rPr>
              <a:t>Key Findings &amp; Insights</a:t>
            </a:r>
            <a:endParaRPr sz="2600">
              <a:solidFill>
                <a:schemeClr val="dk1"/>
              </a:solidFill>
              <a:latin typeface="Calibri"/>
              <a:ea typeface="Calibri"/>
              <a:cs typeface="Calibri"/>
              <a:sym typeface="Calibri"/>
            </a:endParaRPr>
          </a:p>
        </p:txBody>
      </p:sp>
      <p:sp>
        <p:nvSpPr>
          <p:cNvPr id="185" name="Google Shape;185;p11"/>
          <p:cNvSpPr/>
          <p:nvPr/>
        </p:nvSpPr>
        <p:spPr>
          <a:xfrm>
            <a:off x="365760" y="1143000"/>
            <a:ext cx="4023360" cy="1005840"/>
          </a:xfrm>
          <a:prstGeom prst="roundRect">
            <a:avLst>
              <a:gd fmla="val 7273" name="adj"/>
            </a:avLst>
          </a:prstGeom>
          <a:solidFill>
            <a:srgbClr val="FFFFFF"/>
          </a:solidFill>
          <a:ln cap="flat" cmpd="sng" w="9525">
            <a:solidFill>
              <a:srgbClr val="E2E8F0"/>
            </a:solidFill>
            <a:prstDash val="solid"/>
            <a:round/>
            <a:headEnd len="sm" w="sm" type="none"/>
            <a:tailEnd len="sm" w="sm" type="none"/>
          </a:ln>
          <a:effectLst>
            <a:outerShdw blurRad="101600" rotWithShape="0" algn="bl" dir="27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1"/>
          <p:cNvSpPr/>
          <p:nvPr/>
        </p:nvSpPr>
        <p:spPr>
          <a:xfrm>
            <a:off x="502920" y="1435608"/>
            <a:ext cx="411480" cy="411480"/>
          </a:xfrm>
          <a:prstGeom prst="ellipse">
            <a:avLst/>
          </a:prstGeom>
          <a:solidFill>
            <a:srgbClr val="2563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1"/>
          <p:cNvSpPr/>
          <p:nvPr/>
        </p:nvSpPr>
        <p:spPr>
          <a:xfrm>
            <a:off x="502920" y="1444752"/>
            <a:ext cx="411600" cy="39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mbria"/>
              <a:buNone/>
            </a:pPr>
            <a:r>
              <a:rPr b="1" lang="en-US" sz="1200">
                <a:solidFill>
                  <a:srgbClr val="FFFFFF"/>
                </a:solidFill>
                <a:latin typeface="Cambria"/>
                <a:ea typeface="Cambria"/>
                <a:cs typeface="Cambria"/>
                <a:sym typeface="Cambria"/>
              </a:rPr>
              <a:t>01</a:t>
            </a:r>
            <a:endParaRPr sz="1200">
              <a:solidFill>
                <a:schemeClr val="dk1"/>
              </a:solidFill>
              <a:latin typeface="Calibri"/>
              <a:ea typeface="Calibri"/>
              <a:cs typeface="Calibri"/>
              <a:sym typeface="Calibri"/>
            </a:endParaRPr>
          </a:p>
        </p:txBody>
      </p:sp>
      <p:sp>
        <p:nvSpPr>
          <p:cNvPr id="188" name="Google Shape;188;p11"/>
          <p:cNvSpPr/>
          <p:nvPr/>
        </p:nvSpPr>
        <p:spPr>
          <a:xfrm>
            <a:off x="888750" y="1330405"/>
            <a:ext cx="3480300" cy="1005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 Low Default Rate-</a:t>
            </a:r>
            <a:r>
              <a:rPr lang="en-US" sz="1100">
                <a:solidFill>
                  <a:schemeClr val="dk1"/>
                </a:solidFill>
              </a:rPr>
              <a:t>The overall loan default rate is </a:t>
            </a:r>
            <a:r>
              <a:rPr b="1" lang="en-US" sz="1100">
                <a:solidFill>
                  <a:schemeClr val="dk1"/>
                </a:solidFill>
              </a:rPr>
              <a:t>0.07%</a:t>
            </a:r>
            <a:r>
              <a:rPr lang="en-US" sz="1100">
                <a:solidFill>
                  <a:schemeClr val="dk1"/>
                </a:solidFill>
              </a:rPr>
              <a:t>, indicating that very few borrowers defaulted in the given dataset.</a:t>
            </a:r>
            <a:endParaRPr sz="1100">
              <a:solidFill>
                <a:schemeClr val="dk1"/>
              </a:solidFill>
            </a:endParaRPr>
          </a:p>
          <a:p>
            <a:pPr indent="0" lvl="0" marL="0" marR="0" rtl="0" algn="l">
              <a:spcBef>
                <a:spcPts val="40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p:txBody>
      </p:sp>
      <p:sp>
        <p:nvSpPr>
          <p:cNvPr id="189" name="Google Shape;189;p11"/>
          <p:cNvSpPr/>
          <p:nvPr/>
        </p:nvSpPr>
        <p:spPr>
          <a:xfrm>
            <a:off x="365760" y="2313432"/>
            <a:ext cx="4023360" cy="1005840"/>
          </a:xfrm>
          <a:prstGeom prst="roundRect">
            <a:avLst>
              <a:gd fmla="val 7273" name="adj"/>
            </a:avLst>
          </a:prstGeom>
          <a:solidFill>
            <a:srgbClr val="FFFFFF"/>
          </a:solidFill>
          <a:ln cap="flat" cmpd="sng" w="9525">
            <a:solidFill>
              <a:srgbClr val="E2E8F0"/>
            </a:solidFill>
            <a:prstDash val="solid"/>
            <a:round/>
            <a:headEnd len="sm" w="sm" type="none"/>
            <a:tailEnd len="sm" w="sm" type="none"/>
          </a:ln>
          <a:effectLst>
            <a:outerShdw blurRad="101600" rotWithShape="0" algn="bl" dir="27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11"/>
          <p:cNvSpPr/>
          <p:nvPr/>
        </p:nvSpPr>
        <p:spPr>
          <a:xfrm>
            <a:off x="502920" y="2606040"/>
            <a:ext cx="411480" cy="411480"/>
          </a:xfrm>
          <a:prstGeom prst="ellipse">
            <a:avLst/>
          </a:prstGeom>
          <a:solidFill>
            <a:srgbClr val="0D948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11"/>
          <p:cNvSpPr/>
          <p:nvPr/>
        </p:nvSpPr>
        <p:spPr>
          <a:xfrm>
            <a:off x="502920" y="2615184"/>
            <a:ext cx="411480" cy="3931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mbria"/>
              <a:buNone/>
            </a:pPr>
            <a:r>
              <a:rPr b="1" lang="en-US" sz="1200">
                <a:solidFill>
                  <a:srgbClr val="FFFFFF"/>
                </a:solidFill>
                <a:latin typeface="Cambria"/>
                <a:ea typeface="Cambria"/>
                <a:cs typeface="Cambria"/>
                <a:sym typeface="Cambria"/>
              </a:rPr>
              <a:t>02</a:t>
            </a:r>
            <a:endParaRPr sz="1200">
              <a:solidFill>
                <a:schemeClr val="dk1"/>
              </a:solidFill>
              <a:latin typeface="Calibri"/>
              <a:ea typeface="Calibri"/>
              <a:cs typeface="Calibri"/>
              <a:sym typeface="Calibri"/>
            </a:endParaRPr>
          </a:p>
        </p:txBody>
      </p:sp>
      <p:sp>
        <p:nvSpPr>
          <p:cNvPr id="192" name="Google Shape;192;p11"/>
          <p:cNvSpPr/>
          <p:nvPr/>
        </p:nvSpPr>
        <p:spPr>
          <a:xfrm>
            <a:off x="888749" y="2498638"/>
            <a:ext cx="3604200" cy="822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Income Distribution- </a:t>
            </a:r>
            <a:r>
              <a:rPr lang="en-US" sz="1100">
                <a:solidFill>
                  <a:schemeClr val="dk1"/>
                </a:solidFill>
              </a:rPr>
              <a:t>Most borrowers belong to the </a:t>
            </a:r>
            <a:r>
              <a:rPr b="1" lang="en-US" sz="1100">
                <a:solidFill>
                  <a:schemeClr val="dk1"/>
                </a:solidFill>
              </a:rPr>
              <a:t>High</a:t>
            </a:r>
            <a:r>
              <a:rPr lang="en-US" sz="1100">
                <a:solidFill>
                  <a:schemeClr val="dk1"/>
                </a:solidFill>
              </a:rPr>
              <a:t> and </a:t>
            </a:r>
            <a:r>
              <a:rPr b="1" lang="en-US" sz="1100">
                <a:solidFill>
                  <a:schemeClr val="dk1"/>
                </a:solidFill>
              </a:rPr>
              <a:t>Very High</a:t>
            </a:r>
            <a:r>
              <a:rPr lang="en-US" sz="1100">
                <a:solidFill>
                  <a:schemeClr val="dk1"/>
                </a:solidFill>
              </a:rPr>
              <a:t> income bands.The </a:t>
            </a:r>
            <a:r>
              <a:rPr b="1" lang="en-US" sz="1100">
                <a:solidFill>
                  <a:schemeClr val="dk1"/>
                </a:solidFill>
              </a:rPr>
              <a:t>Low</a:t>
            </a:r>
            <a:r>
              <a:rPr lang="en-US" sz="1100">
                <a:solidFill>
                  <a:schemeClr val="dk1"/>
                </a:solidFill>
              </a:rPr>
              <a:t> income band has the fewest borrowers.</a:t>
            </a:r>
            <a:endParaRPr sz="1100">
              <a:solidFill>
                <a:schemeClr val="dk1"/>
              </a:solidFill>
            </a:endParaRPr>
          </a:p>
          <a:p>
            <a:pPr indent="0" lvl="0" marL="0" marR="0" rtl="0" algn="l">
              <a:spcBef>
                <a:spcPts val="40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p:txBody>
      </p:sp>
      <p:sp>
        <p:nvSpPr>
          <p:cNvPr id="193" name="Google Shape;193;p11"/>
          <p:cNvSpPr/>
          <p:nvPr/>
        </p:nvSpPr>
        <p:spPr>
          <a:xfrm>
            <a:off x="365760" y="3483864"/>
            <a:ext cx="4023360" cy="1005840"/>
          </a:xfrm>
          <a:prstGeom prst="roundRect">
            <a:avLst>
              <a:gd fmla="val 7273" name="adj"/>
            </a:avLst>
          </a:prstGeom>
          <a:solidFill>
            <a:srgbClr val="FFFFFF"/>
          </a:solidFill>
          <a:ln cap="flat" cmpd="sng" w="9525">
            <a:solidFill>
              <a:srgbClr val="E2E8F0"/>
            </a:solidFill>
            <a:prstDash val="solid"/>
            <a:round/>
            <a:headEnd len="sm" w="sm" type="none"/>
            <a:tailEnd len="sm" w="sm" type="none"/>
          </a:ln>
          <a:effectLst>
            <a:outerShdw blurRad="101600" rotWithShape="0" algn="bl" dir="27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11"/>
          <p:cNvSpPr/>
          <p:nvPr/>
        </p:nvSpPr>
        <p:spPr>
          <a:xfrm>
            <a:off x="502920" y="3776472"/>
            <a:ext cx="411480" cy="411480"/>
          </a:xfrm>
          <a:prstGeom prst="ellipse">
            <a:avLst/>
          </a:prstGeom>
          <a:solidFill>
            <a:srgbClr val="EA580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1"/>
          <p:cNvSpPr/>
          <p:nvPr/>
        </p:nvSpPr>
        <p:spPr>
          <a:xfrm>
            <a:off x="502920" y="3785616"/>
            <a:ext cx="411480" cy="3931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mbria"/>
              <a:buNone/>
            </a:pPr>
            <a:r>
              <a:rPr b="1" lang="en-US" sz="1200">
                <a:solidFill>
                  <a:srgbClr val="FFFFFF"/>
                </a:solidFill>
                <a:latin typeface="Cambria"/>
                <a:ea typeface="Cambria"/>
                <a:cs typeface="Cambria"/>
                <a:sym typeface="Cambria"/>
              </a:rPr>
              <a:t>03</a:t>
            </a:r>
            <a:endParaRPr sz="1200">
              <a:solidFill>
                <a:schemeClr val="dk1"/>
              </a:solidFill>
              <a:latin typeface="Calibri"/>
              <a:ea typeface="Calibri"/>
              <a:cs typeface="Calibri"/>
              <a:sym typeface="Calibri"/>
            </a:endParaRPr>
          </a:p>
        </p:txBody>
      </p:sp>
      <p:sp>
        <p:nvSpPr>
          <p:cNvPr id="196" name="Google Shape;196;p11"/>
          <p:cNvSpPr/>
          <p:nvPr/>
        </p:nvSpPr>
        <p:spPr>
          <a:xfrm>
            <a:off x="1005890" y="3671342"/>
            <a:ext cx="3246000" cy="822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Loan Grade Analysis:</a:t>
            </a:r>
            <a:r>
              <a:rPr lang="en-US" sz="1100">
                <a:solidFill>
                  <a:schemeClr val="dk1"/>
                </a:solidFill>
              </a:rPr>
              <a:t>Most loans are issued to borrowers with </a:t>
            </a:r>
            <a:r>
              <a:rPr b="1" lang="en-US" sz="1100">
                <a:solidFill>
                  <a:schemeClr val="dk1"/>
                </a:solidFill>
              </a:rPr>
              <a:t>better credit grades (A–C)</a:t>
            </a:r>
            <a:r>
              <a:rPr lang="en-US" sz="1100">
                <a:solidFill>
                  <a:schemeClr val="dk1"/>
                </a:solidFill>
              </a:rPr>
              <a:t>.Lower credit grades receive comparatively fewer loans.</a:t>
            </a:r>
            <a:endParaRPr sz="1100">
              <a:solidFill>
                <a:schemeClr val="dk1"/>
              </a:solidFill>
            </a:endParaRPr>
          </a:p>
          <a:p>
            <a:pPr indent="0" lvl="0" marL="0" marR="0" rtl="0" algn="l">
              <a:spcBef>
                <a:spcPts val="40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p:txBody>
      </p:sp>
      <p:sp>
        <p:nvSpPr>
          <p:cNvPr id="197" name="Google Shape;197;p11"/>
          <p:cNvSpPr/>
          <p:nvPr/>
        </p:nvSpPr>
        <p:spPr>
          <a:xfrm>
            <a:off x="4937760" y="1143000"/>
            <a:ext cx="4023360" cy="1005840"/>
          </a:xfrm>
          <a:prstGeom prst="roundRect">
            <a:avLst>
              <a:gd fmla="val 7273" name="adj"/>
            </a:avLst>
          </a:prstGeom>
          <a:solidFill>
            <a:srgbClr val="FFFFFF"/>
          </a:solidFill>
          <a:ln cap="flat" cmpd="sng" w="9525">
            <a:solidFill>
              <a:srgbClr val="E2E8F0"/>
            </a:solidFill>
            <a:prstDash val="solid"/>
            <a:round/>
            <a:headEnd len="sm" w="sm" type="none"/>
            <a:tailEnd len="sm" w="sm" type="none"/>
          </a:ln>
          <a:effectLst>
            <a:outerShdw blurRad="101600" rotWithShape="0" algn="bl" dir="27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11"/>
          <p:cNvSpPr/>
          <p:nvPr/>
        </p:nvSpPr>
        <p:spPr>
          <a:xfrm>
            <a:off x="5074920" y="1435608"/>
            <a:ext cx="411480" cy="411480"/>
          </a:xfrm>
          <a:prstGeom prst="ellipse">
            <a:avLst/>
          </a:prstGeom>
          <a:solidFill>
            <a:srgbClr val="16A3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1"/>
          <p:cNvSpPr/>
          <p:nvPr/>
        </p:nvSpPr>
        <p:spPr>
          <a:xfrm>
            <a:off x="5074920" y="1444752"/>
            <a:ext cx="411480" cy="3931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mbria"/>
              <a:buNone/>
            </a:pPr>
            <a:r>
              <a:rPr b="1" lang="en-US" sz="1200">
                <a:solidFill>
                  <a:srgbClr val="FFFFFF"/>
                </a:solidFill>
                <a:latin typeface="Cambria"/>
                <a:ea typeface="Cambria"/>
                <a:cs typeface="Cambria"/>
                <a:sym typeface="Cambria"/>
              </a:rPr>
              <a:t>04</a:t>
            </a:r>
            <a:endParaRPr sz="1200">
              <a:solidFill>
                <a:schemeClr val="dk1"/>
              </a:solidFill>
              <a:latin typeface="Calibri"/>
              <a:ea typeface="Calibri"/>
              <a:cs typeface="Calibri"/>
              <a:sym typeface="Calibri"/>
            </a:endParaRPr>
          </a:p>
        </p:txBody>
      </p:sp>
      <p:sp>
        <p:nvSpPr>
          <p:cNvPr id="200" name="Google Shape;200;p11"/>
          <p:cNvSpPr/>
          <p:nvPr/>
        </p:nvSpPr>
        <p:spPr>
          <a:xfrm>
            <a:off x="5577840" y="1316728"/>
            <a:ext cx="3246000" cy="822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Financial Trends- </a:t>
            </a:r>
            <a:r>
              <a:rPr lang="en-US" sz="1100">
                <a:solidFill>
                  <a:schemeClr val="dk1"/>
                </a:solidFill>
              </a:rPr>
              <a:t>Borrowers in higher income bands have larger loan amounts and contribute more in paid interest.</a:t>
            </a:r>
            <a:endParaRPr sz="1100">
              <a:solidFill>
                <a:schemeClr val="dk1"/>
              </a:solidFill>
            </a:endParaRPr>
          </a:p>
          <a:p>
            <a:pPr indent="0" lvl="0" marL="0" marR="0" rtl="0" algn="l">
              <a:spcBef>
                <a:spcPts val="40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p:txBody>
      </p:sp>
      <p:sp>
        <p:nvSpPr>
          <p:cNvPr id="201" name="Google Shape;201;p11"/>
          <p:cNvSpPr/>
          <p:nvPr/>
        </p:nvSpPr>
        <p:spPr>
          <a:xfrm>
            <a:off x="4937760" y="2313432"/>
            <a:ext cx="4023360" cy="1005840"/>
          </a:xfrm>
          <a:prstGeom prst="roundRect">
            <a:avLst>
              <a:gd fmla="val 7273" name="adj"/>
            </a:avLst>
          </a:prstGeom>
          <a:solidFill>
            <a:srgbClr val="FFFFFF"/>
          </a:solidFill>
          <a:ln cap="flat" cmpd="sng" w="9525">
            <a:solidFill>
              <a:srgbClr val="E2E8F0"/>
            </a:solidFill>
            <a:prstDash val="solid"/>
            <a:round/>
            <a:headEnd len="sm" w="sm" type="none"/>
            <a:tailEnd len="sm" w="sm" type="none"/>
          </a:ln>
          <a:effectLst>
            <a:outerShdw blurRad="101600" rotWithShape="0" algn="bl" dir="27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11"/>
          <p:cNvSpPr/>
          <p:nvPr/>
        </p:nvSpPr>
        <p:spPr>
          <a:xfrm>
            <a:off x="5074920" y="2606040"/>
            <a:ext cx="411480" cy="411480"/>
          </a:xfrm>
          <a:prstGeom prst="ellipse">
            <a:avLst/>
          </a:prstGeom>
          <a:solidFill>
            <a:srgbClr val="7C3AE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11"/>
          <p:cNvSpPr/>
          <p:nvPr/>
        </p:nvSpPr>
        <p:spPr>
          <a:xfrm>
            <a:off x="5074920" y="2615184"/>
            <a:ext cx="411480" cy="3931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mbria"/>
              <a:buNone/>
            </a:pPr>
            <a:r>
              <a:rPr b="1" lang="en-US" sz="1200">
                <a:solidFill>
                  <a:srgbClr val="FFFFFF"/>
                </a:solidFill>
                <a:latin typeface="Cambria"/>
                <a:ea typeface="Cambria"/>
                <a:cs typeface="Cambria"/>
                <a:sym typeface="Cambria"/>
              </a:rPr>
              <a:t>05</a:t>
            </a:r>
            <a:endParaRPr sz="1200">
              <a:solidFill>
                <a:schemeClr val="dk1"/>
              </a:solidFill>
              <a:latin typeface="Calibri"/>
              <a:ea typeface="Calibri"/>
              <a:cs typeface="Calibri"/>
              <a:sym typeface="Calibri"/>
            </a:endParaRPr>
          </a:p>
        </p:txBody>
      </p:sp>
      <p:sp>
        <p:nvSpPr>
          <p:cNvPr id="204" name="Google Shape;204;p11"/>
          <p:cNvSpPr/>
          <p:nvPr/>
        </p:nvSpPr>
        <p:spPr>
          <a:xfrm>
            <a:off x="5577840" y="2404872"/>
            <a:ext cx="3246120" cy="82296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Loan Purpose- </a:t>
            </a:r>
            <a:r>
              <a:rPr b="1" lang="en-US" sz="1100">
                <a:solidFill>
                  <a:schemeClr val="dk1"/>
                </a:solidFill>
              </a:rPr>
              <a:t>Debt Consolidation</a:t>
            </a:r>
            <a:r>
              <a:rPr lang="en-US" sz="1100">
                <a:solidFill>
                  <a:schemeClr val="dk1"/>
                </a:solidFill>
              </a:rPr>
              <a:t> is the most common reason for taking a loan.</a:t>
            </a:r>
            <a:endParaRPr sz="1100">
              <a:solidFill>
                <a:schemeClr val="dk1"/>
              </a:solidFill>
            </a:endParaRPr>
          </a:p>
          <a:p>
            <a:pPr indent="0" lvl="0" marL="0" marR="0" rtl="0" algn="l">
              <a:spcBef>
                <a:spcPts val="40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p:txBody>
      </p:sp>
      <p:sp>
        <p:nvSpPr>
          <p:cNvPr id="205" name="Google Shape;205;p11"/>
          <p:cNvSpPr/>
          <p:nvPr/>
        </p:nvSpPr>
        <p:spPr>
          <a:xfrm>
            <a:off x="8046720" y="48006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13 / 14</a:t>
            </a:r>
            <a:endParaRPr sz="900">
              <a:solidFill>
                <a:schemeClr val="dk1"/>
              </a:solidFill>
              <a:latin typeface="Calibri"/>
              <a:ea typeface="Calibri"/>
              <a:cs typeface="Calibri"/>
              <a:sym typeface="Calibri"/>
            </a:endParaRPr>
          </a:p>
        </p:txBody>
      </p:sp>
      <p:pic>
        <p:nvPicPr>
          <p:cNvPr id="206" name="Google Shape;206;p11"/>
          <p:cNvPicPr preferRelativeResize="0"/>
          <p:nvPr/>
        </p:nvPicPr>
        <p:blipFill rotWithShape="1">
          <a:blip r:embed="rId3">
            <a:alphaModFix/>
          </a:blip>
          <a:srcRect b="0" l="0" r="0" t="0"/>
          <a:stretch/>
        </p:blipFill>
        <p:spPr>
          <a:xfrm>
            <a:off x="0" y="8721"/>
            <a:ext cx="2151088" cy="45138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6B"/>
        </a:solidFill>
      </p:bgPr>
    </p:bg>
    <p:spTree>
      <p:nvGrpSpPr>
        <p:cNvPr id="211" name="Shape 211"/>
        <p:cNvGrpSpPr/>
        <p:nvPr/>
      </p:nvGrpSpPr>
      <p:grpSpPr>
        <a:xfrm>
          <a:off x="0" y="0"/>
          <a:ext cx="0" cy="0"/>
          <a:chOff x="0" y="0"/>
          <a:chExt cx="0" cy="0"/>
        </a:xfrm>
      </p:grpSpPr>
      <p:sp>
        <p:nvSpPr>
          <p:cNvPr id="212" name="Google Shape;212;p12"/>
          <p:cNvSpPr/>
          <p:nvPr/>
        </p:nvSpPr>
        <p:spPr>
          <a:xfrm>
            <a:off x="6583680" y="-914400"/>
            <a:ext cx="4114800" cy="4114800"/>
          </a:xfrm>
          <a:prstGeom prst="ellipse">
            <a:avLst/>
          </a:prstGeom>
          <a:solidFill>
            <a:srgbClr val="FFFFFF">
              <a:alpha val="5882"/>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2"/>
          <p:cNvSpPr/>
          <p:nvPr/>
        </p:nvSpPr>
        <p:spPr>
          <a:xfrm>
            <a:off x="7315200" y="2926080"/>
            <a:ext cx="2286000" cy="2286000"/>
          </a:xfrm>
          <a:prstGeom prst="ellipse">
            <a:avLst/>
          </a:prstGeom>
          <a:solidFill>
            <a:srgbClr val="FFFFFF">
              <a:alpha val="392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2"/>
          <p:cNvSpPr/>
          <p:nvPr/>
        </p:nvSpPr>
        <p:spPr>
          <a:xfrm>
            <a:off x="5760720" y="3931920"/>
            <a:ext cx="310896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3C5FD"/>
              </a:buClr>
              <a:buSzPts val="1400"/>
              <a:buFont typeface="Cambria"/>
              <a:buNone/>
            </a:pPr>
            <a:r>
              <a:rPr b="1" lang="en-US" sz="1400">
                <a:solidFill>
                  <a:srgbClr val="93C5FD"/>
                </a:solidFill>
                <a:latin typeface="Cambria"/>
                <a:ea typeface="Cambria"/>
                <a:cs typeface="Cambria"/>
                <a:sym typeface="Cambria"/>
              </a:rPr>
              <a:t>Questions &amp; Feedback Welcome</a:t>
            </a:r>
            <a:endParaRPr sz="1400">
              <a:solidFill>
                <a:schemeClr val="dk1"/>
              </a:solidFill>
              <a:latin typeface="Calibri"/>
              <a:ea typeface="Calibri"/>
              <a:cs typeface="Calibri"/>
              <a:sym typeface="Calibri"/>
            </a:endParaRPr>
          </a:p>
        </p:txBody>
      </p:sp>
      <p:sp>
        <p:nvSpPr>
          <p:cNvPr id="215" name="Google Shape;215;p12"/>
          <p:cNvSpPr/>
          <p:nvPr/>
        </p:nvSpPr>
        <p:spPr>
          <a:xfrm>
            <a:off x="8046720" y="48006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3C5FD"/>
              </a:buClr>
              <a:buSzPts val="900"/>
              <a:buFont typeface="Calibri"/>
              <a:buNone/>
            </a:pPr>
            <a:r>
              <a:rPr lang="en-US" sz="900">
                <a:solidFill>
                  <a:srgbClr val="93C5FD"/>
                </a:solidFill>
                <a:latin typeface="Calibri"/>
                <a:ea typeface="Calibri"/>
                <a:cs typeface="Calibri"/>
                <a:sym typeface="Calibri"/>
              </a:rPr>
              <a:t>14 / 14</a:t>
            </a:r>
            <a:endParaRPr sz="900">
              <a:solidFill>
                <a:schemeClr val="dk1"/>
              </a:solidFill>
              <a:latin typeface="Calibri"/>
              <a:ea typeface="Calibri"/>
              <a:cs typeface="Calibri"/>
              <a:sym typeface="Calibri"/>
            </a:endParaRPr>
          </a:p>
        </p:txBody>
      </p:sp>
      <p:pic>
        <p:nvPicPr>
          <p:cNvPr id="216" name="Google Shape;216;p12"/>
          <p:cNvPicPr preferRelativeResize="0"/>
          <p:nvPr/>
        </p:nvPicPr>
        <p:blipFill rotWithShape="1">
          <a:blip r:embed="rId3">
            <a:alphaModFix/>
          </a:blip>
          <a:srcRect b="0" l="0" r="0" t="0"/>
          <a:stretch/>
        </p:blipFill>
        <p:spPr>
          <a:xfrm>
            <a:off x="0" y="8721"/>
            <a:ext cx="2151088" cy="451386"/>
          </a:xfrm>
          <a:prstGeom prst="rect">
            <a:avLst/>
          </a:prstGeom>
          <a:noFill/>
          <a:ln>
            <a:noFill/>
          </a:ln>
        </p:spPr>
      </p:pic>
      <p:sp>
        <p:nvSpPr>
          <p:cNvPr id="217" name="Google Shape;217;p12"/>
          <p:cNvSpPr txBox="1"/>
          <p:nvPr/>
        </p:nvSpPr>
        <p:spPr>
          <a:xfrm>
            <a:off x="2493825" y="1431650"/>
            <a:ext cx="6219900" cy="208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0">
                <a:solidFill>
                  <a:schemeClr val="lt1"/>
                </a:solidFill>
              </a:rPr>
              <a:t>Thank you</a:t>
            </a:r>
            <a:endParaRPr sz="60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